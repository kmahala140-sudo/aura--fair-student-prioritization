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63" r:id="rId4"/>
    <p:sldId id="259" r:id="rId5"/>
    <p:sldId id="264" r:id="rId6"/>
    <p:sldId id="265" r:id="rId7"/>
  </p:sldIdLst>
  <p:sldSz cx="12192000" cy="6858000"/>
  <p:notesSz cx="6858000" cy="9144000"/>
  <p:embeddedFontLst>
    <p:embeddedFont>
      <p:font typeface="Arial Black" panose="020B0A04020102020204" pitchFamily="34" charset="0"/>
      <p:bold r:id="rId9"/>
    </p:embeddedFont>
    <p:embeddedFont>
      <p:font typeface="Garamond" panose="02020404030301010803" pitchFamily="18" charset="0"/>
      <p:regular r:id="rId10"/>
      <p:bold r:id="rId11"/>
      <p:italic r:id="rId12"/>
    </p:embeddedFont>
    <p:embeddedFont>
      <p:font typeface="Georgia" panose="02040502050405020303" pitchFamily="18" charset="0"/>
      <p:regular r:id="rId13"/>
      <p:bold r:id="rId14"/>
      <p:italic r:id="rId15"/>
      <p:boldItalic r:id="rId16"/>
    </p:embeddedFont>
    <p:embeddedFont>
      <p:font typeface="Play" panose="020B060402020202020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joKS4UkfmLozwipapNb6cNpfKb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A9D673-CEE9-4FC5-8AA5-30402F7E8EF9}" v="12" dt="2026-09-12T10:48:06.9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ableStyles" Target="tableStyles.xml"/><Relationship Id="rId10" Type="http://schemas.openxmlformats.org/officeDocument/2006/relationships/font" Target="fonts/font2.fntdata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h vijay" userId="c0538e1615168268" providerId="LiveId" clId="{93FC7411-4F74-4C32-8AF9-0DEEE54D4C9E}"/>
    <pc:docChg chg="custSel addSld delSld modSld sldOrd">
      <pc:chgData name="Krish vijay" userId="c0538e1615168268" providerId="LiveId" clId="{93FC7411-4F74-4C32-8AF9-0DEEE54D4C9E}" dt="2026-09-12T10:50:45.757" v="20" actId="113"/>
      <pc:docMkLst>
        <pc:docMk/>
      </pc:docMkLst>
      <pc:sldChg chg="modSp mod">
        <pc:chgData name="Krish vijay" userId="c0538e1615168268" providerId="LiveId" clId="{93FC7411-4F74-4C32-8AF9-0DEEE54D4C9E}" dt="2026-09-12T10:50:45.757" v="20" actId="113"/>
        <pc:sldMkLst>
          <pc:docMk/>
          <pc:sldMk cId="0" sldId="256"/>
        </pc:sldMkLst>
        <pc:spChg chg="mod">
          <ac:chgData name="Krish vijay" userId="c0538e1615168268" providerId="LiveId" clId="{93FC7411-4F74-4C32-8AF9-0DEEE54D4C9E}" dt="2026-09-12T10:50:45.757" v="20" actId="113"/>
          <ac:spMkLst>
            <pc:docMk/>
            <pc:sldMk cId="0" sldId="256"/>
            <ac:spMk id="87" creationId="{00000000-0000-0000-0000-000000000000}"/>
          </ac:spMkLst>
        </pc:spChg>
      </pc:sldChg>
      <pc:sldChg chg="del ord">
        <pc:chgData name="Krish vijay" userId="c0538e1615168268" providerId="LiveId" clId="{93FC7411-4F74-4C32-8AF9-0DEEE54D4C9E}" dt="2026-09-12T10:46:25.950" v="4" actId="47"/>
        <pc:sldMkLst>
          <pc:docMk/>
          <pc:sldMk cId="0" sldId="257"/>
        </pc:sldMkLst>
      </pc:sldChg>
      <pc:sldChg chg="del">
        <pc:chgData name="Krish vijay" userId="c0538e1615168268" providerId="LiveId" clId="{93FC7411-4F74-4C32-8AF9-0DEEE54D4C9E}" dt="2026-09-12T10:46:52.304" v="12" actId="47"/>
        <pc:sldMkLst>
          <pc:docMk/>
          <pc:sldMk cId="0" sldId="258"/>
        </pc:sldMkLst>
      </pc:sldChg>
      <pc:sldChg chg="del">
        <pc:chgData name="Krish vijay" userId="c0538e1615168268" providerId="LiveId" clId="{93FC7411-4F74-4C32-8AF9-0DEEE54D4C9E}" dt="2026-09-12T10:47:50.102" v="14" actId="47"/>
        <pc:sldMkLst>
          <pc:docMk/>
          <pc:sldMk cId="0" sldId="260"/>
        </pc:sldMkLst>
      </pc:sldChg>
      <pc:sldChg chg="del">
        <pc:chgData name="Krish vijay" userId="c0538e1615168268" providerId="LiveId" clId="{93FC7411-4F74-4C32-8AF9-0DEEE54D4C9E}" dt="2026-09-12T10:48:09.752" v="16" actId="47"/>
        <pc:sldMkLst>
          <pc:docMk/>
          <pc:sldMk cId="0" sldId="261"/>
        </pc:sldMkLst>
      </pc:sldChg>
      <pc:sldChg chg="modSp add mod setBg modNotes">
        <pc:chgData name="Krish vijay" userId="c0538e1615168268" providerId="LiveId" clId="{93FC7411-4F74-4C32-8AF9-0DEEE54D4C9E}" dt="2026-09-12T10:46:15.706" v="1" actId="27636"/>
        <pc:sldMkLst>
          <pc:docMk/>
          <pc:sldMk cId="0" sldId="262"/>
        </pc:sldMkLst>
        <pc:spChg chg="mod">
          <ac:chgData name="Krish vijay" userId="c0538e1615168268" providerId="LiveId" clId="{93FC7411-4F74-4C32-8AF9-0DEEE54D4C9E}" dt="2026-09-12T10:46:15.706" v="1" actId="27636"/>
          <ac:spMkLst>
            <pc:docMk/>
            <pc:sldMk cId="0" sldId="262"/>
            <ac:spMk id="2" creationId="{00000000-0000-0000-0000-000000000000}"/>
          </ac:spMkLst>
        </pc:spChg>
      </pc:sldChg>
      <pc:sldChg chg="modSp add mod setBg modNotes">
        <pc:chgData name="Krish vijay" userId="c0538e1615168268" providerId="LiveId" clId="{93FC7411-4F74-4C32-8AF9-0DEEE54D4C9E}" dt="2026-09-12T10:46:46.208" v="11" actId="27636"/>
        <pc:sldMkLst>
          <pc:docMk/>
          <pc:sldMk cId="0" sldId="263"/>
        </pc:sldMkLst>
        <pc:spChg chg="mod">
          <ac:chgData name="Krish vijay" userId="c0538e1615168268" providerId="LiveId" clId="{93FC7411-4F74-4C32-8AF9-0DEEE54D4C9E}" dt="2026-09-12T10:46:46.188" v="6" actId="27636"/>
          <ac:spMkLst>
            <pc:docMk/>
            <pc:sldMk cId="0" sldId="263"/>
            <ac:spMk id="5" creationId="{00000000-0000-0000-0000-000000000000}"/>
          </ac:spMkLst>
        </pc:spChg>
        <pc:spChg chg="mod">
          <ac:chgData name="Krish vijay" userId="c0538e1615168268" providerId="LiveId" clId="{93FC7411-4F74-4C32-8AF9-0DEEE54D4C9E}" dt="2026-09-12T10:46:46.188" v="7" actId="27636"/>
          <ac:spMkLst>
            <pc:docMk/>
            <pc:sldMk cId="0" sldId="263"/>
            <ac:spMk id="13" creationId="{00000000-0000-0000-0000-000000000000}"/>
          </ac:spMkLst>
        </pc:spChg>
        <pc:spChg chg="mod">
          <ac:chgData name="Krish vijay" userId="c0538e1615168268" providerId="LiveId" clId="{93FC7411-4F74-4C32-8AF9-0DEEE54D4C9E}" dt="2026-09-12T10:46:46.208" v="11" actId="27636"/>
          <ac:spMkLst>
            <pc:docMk/>
            <pc:sldMk cId="0" sldId="263"/>
            <ac:spMk id="19" creationId="{00000000-0000-0000-0000-000000000000}"/>
          </ac:spMkLst>
        </pc:spChg>
        <pc:spChg chg="mod">
          <ac:chgData name="Krish vijay" userId="c0538e1615168268" providerId="LiveId" clId="{93FC7411-4F74-4C32-8AF9-0DEEE54D4C9E}" dt="2026-09-12T10:46:46.208" v="10" actId="27636"/>
          <ac:spMkLst>
            <pc:docMk/>
            <pc:sldMk cId="0" sldId="263"/>
            <ac:spMk id="25" creationId="{00000000-0000-0000-0000-000000000000}"/>
          </ac:spMkLst>
        </pc:spChg>
        <pc:spChg chg="mod">
          <ac:chgData name="Krish vijay" userId="c0538e1615168268" providerId="LiveId" clId="{93FC7411-4F74-4C32-8AF9-0DEEE54D4C9E}" dt="2026-09-12T10:46:46.205" v="9" actId="27636"/>
          <ac:spMkLst>
            <pc:docMk/>
            <pc:sldMk cId="0" sldId="263"/>
            <ac:spMk id="31" creationId="{00000000-0000-0000-0000-000000000000}"/>
          </ac:spMkLst>
        </pc:spChg>
        <pc:spChg chg="mod">
          <ac:chgData name="Krish vijay" userId="c0538e1615168268" providerId="LiveId" clId="{93FC7411-4F74-4C32-8AF9-0DEEE54D4C9E}" dt="2026-09-12T10:46:46.188" v="8" actId="27636"/>
          <ac:spMkLst>
            <pc:docMk/>
            <pc:sldMk cId="0" sldId="263"/>
            <ac:spMk id="37" creationId="{00000000-0000-0000-0000-000000000000}"/>
          </ac:spMkLst>
        </pc:spChg>
      </pc:sldChg>
      <pc:sldChg chg="add">
        <pc:chgData name="Krish vijay" userId="c0538e1615168268" providerId="LiveId" clId="{93FC7411-4F74-4C32-8AF9-0DEEE54D4C9E}" dt="2026-09-12T10:47:47.010" v="13"/>
        <pc:sldMkLst>
          <pc:docMk/>
          <pc:sldMk cId="0" sldId="264"/>
        </pc:sldMkLst>
      </pc:sldChg>
      <pc:sldChg chg="add">
        <pc:chgData name="Krish vijay" userId="c0538e1615168268" providerId="LiveId" clId="{93FC7411-4F74-4C32-8AF9-0DEEE54D4C9E}" dt="2026-09-12T10:48:06.918" v="15"/>
        <pc:sldMkLst>
          <pc:docMk/>
          <pc:sldMk cId="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basis: ED-01 problem statement requires a binary support-needed probability model, ranked support list, exact top-20% selection, group-wise utility/fairness metrics, and responsible-use analysis. G3 is used to define support_needed but must not be an input. The prototype implements G1/G2, absences, failures, school and sex; it exposes a 3D cohort explorer, parity/fairness arena, counterfactual what-if controls, and rank-boundary inspection.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Source-grounded technical approach based on the submitted browser prototype and ED-01 brief. Prototype UI is implemented with HTML/CSS/JavaScript, Three.js and Chart.js, with JSON/CSV data/evaluator flows. The ranking uses support-needed probability, selects exactly ceil(0.20*N), and audits recall, worst-group recall, fairness gap and calibration. G3 is target-only for the benchmark; the blind evaluator accepts rows with G3 removed. The counterfactual lab uses a logistic-odds shift for hypothetical G2, study-time and absence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930459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83B66"/>
          </a:solidFill>
          <a:ln w="12700">
            <a:solidFill>
              <a:srgbClr val="183B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3796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ED-01 • Responsible &amp; Explainable AI in EdTech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0" y="653796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AURA • Fair Student-Support Prioritization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499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7059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-1279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>
            <a:spLocks noGrp="1"/>
          </p:cNvSpPr>
          <p:nvPr>
            <p:ph type="ctrTitle"/>
          </p:nvPr>
        </p:nvSpPr>
        <p:spPr>
          <a:xfrm>
            <a:off x="1570150" y="-213936"/>
            <a:ext cx="9051700" cy="1813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Garamond"/>
              <a:buNone/>
            </a:pPr>
            <a:r>
              <a:rPr lang="en-US" sz="4000" b="1" dirty="0">
                <a:solidFill>
                  <a:srgbClr val="C00000"/>
                </a:solidFill>
                <a:latin typeface="Garamond"/>
                <a:ea typeface="Garamond"/>
                <a:cs typeface="Garamond"/>
                <a:sym typeface="Garamond"/>
              </a:rPr>
              <a:t>CLASH OF CODERS 3.0 HACKATHON 2026</a:t>
            </a:r>
            <a:endParaRPr dirty="0"/>
          </a:p>
        </p:txBody>
      </p:sp>
      <p:sp>
        <p:nvSpPr>
          <p:cNvPr id="87" name="Google Shape;87;p1"/>
          <p:cNvSpPr txBox="1"/>
          <p:nvPr/>
        </p:nvSpPr>
        <p:spPr>
          <a:xfrm>
            <a:off x="367604" y="1813668"/>
            <a:ext cx="11214796" cy="3231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 algn="just"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 -</a:t>
            </a:r>
            <a:r>
              <a:rPr lang="en-US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dirty="0"/>
              <a:t>A school can support only 20% of students. Build a fair ranking system that identifies students most in need of support while ensuring equitable recall across student groups.</a:t>
            </a:r>
          </a:p>
          <a:p>
            <a:pPr lvl="0" algn="just">
              <a:buClr>
                <a:schemeClr val="dk1"/>
              </a:buClr>
              <a:buSzPts val="2800"/>
            </a:pPr>
            <a:endParaRPr sz="1600" dirty="0"/>
          </a:p>
          <a:p>
            <a:pPr marL="285750" lvl="0" indent="-285750" algn="just"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 - </a:t>
            </a:r>
            <a:r>
              <a:rPr lang="en-US" sz="2400" dirty="0"/>
              <a:t>Responsible &amp; Explainable AI (XAI) in Education</a:t>
            </a:r>
            <a:endParaRPr dirty="0"/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– Techfinity 1.0</a:t>
            </a:r>
            <a:endParaRPr sz="2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367604" y="522621"/>
            <a:ext cx="221225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400" b="1" dirty="0">
                <a:solidFill>
                  <a:srgbClr val="14324E"/>
                </a:solidFill>
                <a:latin typeface="Aptos"/>
              </a:rPr>
              <a:t>Techfinity 1.0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37744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8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AURA — FROM STUDENT DATA TO FAIR SUPPORT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transparent pipeline: predict need → use the limited support budget → audit whether the ranking is fair.</a:t>
            </a:r>
            <a:endParaRPr lang="en-US" sz="1070" dirty="0"/>
          </a:p>
        </p:txBody>
      </p:sp>
      <p:sp>
        <p:nvSpPr>
          <p:cNvPr id="4" name="Shape 2"/>
          <p:cNvSpPr/>
          <p:nvPr/>
        </p:nvSpPr>
        <p:spPr>
          <a:xfrm>
            <a:off x="10012680" y="228600"/>
            <a:ext cx="1618488" cy="658368"/>
          </a:xfrm>
          <a:prstGeom prst="roundRect">
            <a:avLst>
              <a:gd name="adj" fmla="val 11111"/>
            </a:avLst>
          </a:prstGeom>
          <a:solidFill>
            <a:srgbClr val="E9F3FB"/>
          </a:solidFill>
          <a:ln w="13970">
            <a:solidFill>
              <a:srgbClr val="B9D1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31552" y="320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8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HARD LIMIT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18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20% OF STUDENTS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2542032" cy="2615184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3335">
            <a:solidFill>
              <a:srgbClr val="D6DEE8"/>
            </a:solidFill>
            <a:prstDash val="solid"/>
          </a:ln>
          <a:effectLst>
            <a:outerShdw blurRad="12700" dist="50800" dir="2700000" algn="bl" rotWithShape="0">
              <a:srgbClr val="AAB5C1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34440"/>
            <a:ext cx="73152" cy="2615184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399032"/>
            <a:ext cx="384048" cy="384048"/>
          </a:xfrm>
          <a:prstGeom prst="ellipse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46761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07008" y="139903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 DATA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31520" y="1837944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snapshot for each student.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731520" y="24231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USES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731520" y="260604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89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G1 + G2 grades • absences • failures</a:t>
            </a:r>
            <a:endParaRPr lang="en-US" sz="890" dirty="0"/>
          </a:p>
          <a:p>
            <a:pPr marL="127000" indent="-127000">
              <a:buSzPct val="100000"/>
              <a:buChar char="•"/>
            </a:pPr>
            <a:r>
              <a:rPr lang="en-US" sz="89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School + sex for cohort checks</a:t>
            </a:r>
            <a:endParaRPr lang="en-US" sz="890" dirty="0"/>
          </a:p>
        </p:txBody>
      </p:sp>
      <p:sp>
        <p:nvSpPr>
          <p:cNvPr id="14" name="Text 12"/>
          <p:cNvSpPr/>
          <p:nvPr/>
        </p:nvSpPr>
        <p:spPr>
          <a:xfrm>
            <a:off x="731520" y="313639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HERE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731520" y="3319272"/>
            <a:ext cx="21762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the permitted signals used to estimate support need; G3 is the target, not an input.</a:t>
            </a:r>
            <a:endParaRPr lang="en-US" sz="890" dirty="0"/>
          </a:p>
        </p:txBody>
      </p:sp>
      <p:sp>
        <p:nvSpPr>
          <p:cNvPr id="16" name="Shape 14"/>
          <p:cNvSpPr/>
          <p:nvPr/>
        </p:nvSpPr>
        <p:spPr>
          <a:xfrm>
            <a:off x="3218688" y="1234440"/>
            <a:ext cx="2542032" cy="2615184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3335">
            <a:solidFill>
              <a:srgbClr val="D6DEE8"/>
            </a:solidFill>
            <a:prstDash val="solid"/>
          </a:ln>
          <a:effectLst>
            <a:outerShdw blurRad="12700" dist="50800" dir="2700000" algn="bl" rotWithShape="0">
              <a:srgbClr val="AAB5C1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18688" y="1234440"/>
            <a:ext cx="73152" cy="2615184"/>
          </a:xfrm>
          <a:prstGeom prst="rect">
            <a:avLst/>
          </a:prstGeom>
          <a:solidFill>
            <a:srgbClr val="1E9E68"/>
          </a:solidFill>
          <a:ln w="12700">
            <a:solidFill>
              <a:srgbClr val="1E9E6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83280" y="1399032"/>
            <a:ext cx="384048" cy="384048"/>
          </a:xfrm>
          <a:prstGeom prst="ellipse">
            <a:avLst/>
          </a:prstGeom>
          <a:solidFill>
            <a:srgbClr val="1E9E68"/>
          </a:solidFill>
          <a:ln w="12700">
            <a:solidFill>
              <a:srgbClr val="1E9E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146761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77056" y="139903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 SCORE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3401568" y="1837944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the student profile into a support-needed probability.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3401568" y="24231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E9E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USES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3401568" y="260604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89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outputs p(support needed)</a:t>
            </a:r>
            <a:endParaRPr lang="en-US" sz="890" dirty="0"/>
          </a:p>
          <a:p>
            <a:pPr marL="127000" indent="-127000">
              <a:buSzPct val="100000"/>
              <a:buChar char="•"/>
            </a:pPr>
            <a:r>
              <a:rPr lang="en-US" sz="89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Calibration tracked with Brier score</a:t>
            </a:r>
            <a:endParaRPr lang="en-US" sz="890" dirty="0"/>
          </a:p>
        </p:txBody>
      </p:sp>
      <p:sp>
        <p:nvSpPr>
          <p:cNvPr id="24" name="Text 22"/>
          <p:cNvSpPr/>
          <p:nvPr/>
        </p:nvSpPr>
        <p:spPr>
          <a:xfrm>
            <a:off x="3401568" y="313639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E9E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HERE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3401568" y="3319272"/>
            <a:ext cx="21762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probability is more informative than a yes/no label: it lets us rank students under a fixed budget.</a:t>
            </a:r>
            <a:endParaRPr lang="en-US" sz="890" dirty="0"/>
          </a:p>
        </p:txBody>
      </p:sp>
      <p:sp>
        <p:nvSpPr>
          <p:cNvPr id="26" name="Shape 24"/>
          <p:cNvSpPr/>
          <p:nvPr/>
        </p:nvSpPr>
        <p:spPr>
          <a:xfrm>
            <a:off x="5888736" y="1234440"/>
            <a:ext cx="2542032" cy="2615184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3335">
            <a:solidFill>
              <a:srgbClr val="D6DEE8"/>
            </a:solidFill>
            <a:prstDash val="solid"/>
          </a:ln>
          <a:effectLst>
            <a:outerShdw blurRad="12700" dist="50800" dir="2700000" algn="bl" rotWithShape="0">
              <a:srgbClr val="AAB5C1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888736" y="1234440"/>
            <a:ext cx="73152" cy="2615184"/>
          </a:xfrm>
          <a:prstGeom prst="rect">
            <a:avLst/>
          </a:prstGeom>
          <a:solidFill>
            <a:srgbClr val="6657D9"/>
          </a:solidFill>
          <a:ln w="12700">
            <a:solidFill>
              <a:srgbClr val="6657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53328" y="1399032"/>
            <a:ext cx="384048" cy="384048"/>
          </a:xfrm>
          <a:prstGeom prst="ellipse">
            <a:avLst/>
          </a:prstGeom>
          <a:solidFill>
            <a:srgbClr val="6657D9"/>
          </a:solidFill>
          <a:ln w="12700">
            <a:solidFill>
              <a:srgbClr val="6657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53328" y="146761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47104" y="139903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PRIORITY RANK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6071616" y="1837944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 students by predicted need and select exactly the top 20%.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6071616" y="24231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6657D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USES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6071616" y="260604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89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→ N ranking by probability</a:t>
            </a:r>
            <a:endParaRPr lang="en-US" sz="890" dirty="0"/>
          </a:p>
          <a:p>
            <a:pPr marL="127000" indent="-127000">
              <a:buSzPct val="100000"/>
              <a:buChar char="•"/>
            </a:pPr>
            <a:r>
              <a:rPr lang="en-US" sz="89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⌈0.20 × N⌉ become the support cohort</a:t>
            </a:r>
            <a:endParaRPr lang="en-US" sz="890" dirty="0"/>
          </a:p>
        </p:txBody>
      </p:sp>
      <p:sp>
        <p:nvSpPr>
          <p:cNvPr id="34" name="Text 32"/>
          <p:cNvSpPr/>
          <p:nvPr/>
        </p:nvSpPr>
        <p:spPr>
          <a:xfrm>
            <a:off x="6071616" y="313639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6657D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HERE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6071616" y="3319272"/>
            <a:ext cx="21762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school has limited capacity, so the model must turn probabilities into a concrete, auditable allocation.</a:t>
            </a:r>
            <a:endParaRPr lang="en-US" sz="890" dirty="0"/>
          </a:p>
        </p:txBody>
      </p:sp>
      <p:sp>
        <p:nvSpPr>
          <p:cNvPr id="36" name="Shape 34"/>
          <p:cNvSpPr/>
          <p:nvPr/>
        </p:nvSpPr>
        <p:spPr>
          <a:xfrm>
            <a:off x="8558784" y="1234440"/>
            <a:ext cx="2542032" cy="2615184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3335">
            <a:solidFill>
              <a:srgbClr val="D6DEE8"/>
            </a:solidFill>
            <a:prstDash val="solid"/>
          </a:ln>
          <a:effectLst>
            <a:outerShdw blurRad="12700" dist="50800" dir="2700000" algn="bl" rotWithShape="0">
              <a:srgbClr val="AAB5C1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558784" y="1234440"/>
            <a:ext cx="73152" cy="2615184"/>
          </a:xfrm>
          <a:prstGeom prst="rect">
            <a:avLst/>
          </a:prstGeom>
          <a:solidFill>
            <a:srgbClr val="D99817"/>
          </a:solidFill>
          <a:ln w="12700">
            <a:solidFill>
              <a:srgbClr val="D9981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23376" y="1399032"/>
            <a:ext cx="384048" cy="384048"/>
          </a:xfrm>
          <a:prstGeom prst="ellipse">
            <a:avLst/>
          </a:prstGeom>
          <a:solidFill>
            <a:srgbClr val="D99817"/>
          </a:solidFill>
          <a:ln w="12700">
            <a:solidFill>
              <a:srgbClr val="D9981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23376" y="146761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217152" y="139903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FAIRNESS AUDIT</a:t>
            </a:r>
            <a:endParaRPr lang="en-US" sz="1550" dirty="0"/>
          </a:p>
        </p:txBody>
      </p:sp>
      <p:sp>
        <p:nvSpPr>
          <p:cNvPr id="41" name="Text 39"/>
          <p:cNvSpPr/>
          <p:nvPr/>
        </p:nvSpPr>
        <p:spPr>
          <a:xfrm>
            <a:off x="8741664" y="1837944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whether support-needed recall is balanced across eligible groups.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8741664" y="242316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D998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USES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8741664" y="260604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89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Rₘᵢₙ = worst-group recall</a:t>
            </a:r>
            <a:endParaRPr lang="en-US" sz="890" dirty="0"/>
          </a:p>
          <a:p>
            <a:pPr marL="127000" indent="-127000">
              <a:buSzPct val="100000"/>
              <a:buChar char="•"/>
            </a:pPr>
            <a:r>
              <a:rPr lang="en-US" sz="89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Fairness gap = largest recall difference</a:t>
            </a:r>
            <a:endParaRPr lang="en-US" sz="890" dirty="0"/>
          </a:p>
          <a:p>
            <a:pPr marL="127000" indent="-127000">
              <a:buSzPct val="100000"/>
              <a:buChar char="•"/>
            </a:pPr>
            <a:r>
              <a:rPr lang="en-US" sz="89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 + calibration reported</a:t>
            </a:r>
            <a:endParaRPr lang="en-US" sz="890" dirty="0"/>
          </a:p>
        </p:txBody>
      </p:sp>
      <p:sp>
        <p:nvSpPr>
          <p:cNvPr id="44" name="Text 42"/>
          <p:cNvSpPr/>
          <p:nvPr/>
        </p:nvSpPr>
        <p:spPr>
          <a:xfrm>
            <a:off x="8741664" y="313639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D998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HERE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8741664" y="3319272"/>
            <a:ext cx="21762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safety check after ranking: a strong overall score is not enough if one eligible group is consistently missed.</a:t>
            </a:r>
            <a:endParaRPr lang="en-US" sz="890" dirty="0"/>
          </a:p>
        </p:txBody>
      </p:sp>
      <p:sp>
        <p:nvSpPr>
          <p:cNvPr id="46" name="Shape 44"/>
          <p:cNvSpPr/>
          <p:nvPr/>
        </p:nvSpPr>
        <p:spPr>
          <a:xfrm>
            <a:off x="3081528" y="2368296"/>
            <a:ext cx="118872" cy="274320"/>
          </a:xfrm>
          <a:prstGeom prst="chevron">
            <a:avLst/>
          </a:prstGeom>
          <a:solidFill>
            <a:srgbClr val="8E9AAA"/>
          </a:solidFill>
          <a:ln w="12700">
            <a:solidFill>
              <a:srgbClr val="8E9AA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51576" y="2368296"/>
            <a:ext cx="118872" cy="274320"/>
          </a:xfrm>
          <a:prstGeom prst="chevron">
            <a:avLst/>
          </a:prstGeom>
          <a:solidFill>
            <a:srgbClr val="8E9AAA"/>
          </a:solidFill>
          <a:ln w="12700">
            <a:solidFill>
              <a:srgbClr val="8E9AA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421624" y="2368296"/>
            <a:ext cx="118872" cy="274320"/>
          </a:xfrm>
          <a:prstGeom prst="chevron">
            <a:avLst/>
          </a:prstGeom>
          <a:solidFill>
            <a:srgbClr val="8E9AAA"/>
          </a:solidFill>
          <a:ln w="12700">
            <a:solidFill>
              <a:srgbClr val="8E9AA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6928" y="408736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8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PROTOTYPE MAKES THE DECISION EXPLAINABLE</a:t>
            </a:r>
            <a:endParaRPr lang="en-US" sz="1320" dirty="0"/>
          </a:p>
        </p:txBody>
      </p:sp>
      <p:sp>
        <p:nvSpPr>
          <p:cNvPr id="50" name="Text 48"/>
          <p:cNvSpPr/>
          <p:nvPr/>
        </p:nvSpPr>
        <p:spPr>
          <a:xfrm>
            <a:off x="566928" y="4389120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three views are not separate models — they explain, stress-test and inspect the same ranked list.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566928" y="4645152"/>
            <a:ext cx="35204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66928" y="4645152"/>
            <a:ext cx="64008" cy="141732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2376" y="4809744"/>
            <a:ext cx="301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133856" y="4791456"/>
            <a:ext cx="280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3D COHORT EXPLORER</a:t>
            </a:r>
            <a:endParaRPr lang="en-US" sz="1180" dirty="0"/>
          </a:p>
        </p:txBody>
      </p:sp>
      <p:sp>
        <p:nvSpPr>
          <p:cNvPr id="55" name="Text 53"/>
          <p:cNvSpPr/>
          <p:nvPr/>
        </p:nvSpPr>
        <p:spPr>
          <a:xfrm>
            <a:off x="1133856" y="5084064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5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Plots G1 vs G2 with support probability as the 3rd dimension; filters distress, passing students and cohorts.</a:t>
            </a:r>
            <a:endParaRPr lang="en-US" sz="855" dirty="0"/>
          </a:p>
        </p:txBody>
      </p:sp>
      <p:sp>
        <p:nvSpPr>
          <p:cNvPr id="56" name="Text 54"/>
          <p:cNvSpPr/>
          <p:nvPr/>
        </p:nvSpPr>
        <p:spPr>
          <a:xfrm>
            <a:off x="722376" y="556869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1133856" y="5504688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5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Lets a teacher inspect *why* a student appears high-risk and see the academic trajectory behind the score.</a:t>
            </a:r>
            <a:endParaRPr lang="en-US" sz="825" dirty="0"/>
          </a:p>
        </p:txBody>
      </p:sp>
      <p:sp>
        <p:nvSpPr>
          <p:cNvPr id="58" name="Shape 56"/>
          <p:cNvSpPr/>
          <p:nvPr/>
        </p:nvSpPr>
        <p:spPr>
          <a:xfrm>
            <a:off x="4224528" y="4645152"/>
            <a:ext cx="35204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224528" y="4645152"/>
            <a:ext cx="64008" cy="1417320"/>
          </a:xfrm>
          <a:prstGeom prst="rect">
            <a:avLst/>
          </a:prstGeom>
          <a:solidFill>
            <a:srgbClr val="1E9E68"/>
          </a:solidFill>
          <a:ln w="12700">
            <a:solidFill>
              <a:srgbClr val="1E9E6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379976" y="4809744"/>
            <a:ext cx="301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9E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4791456" y="4791456"/>
            <a:ext cx="280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PARITY ARENA</a:t>
            </a:r>
            <a:endParaRPr lang="en-US" sz="1180" dirty="0"/>
          </a:p>
        </p:txBody>
      </p:sp>
      <p:sp>
        <p:nvSpPr>
          <p:cNvPr id="62" name="Text 60"/>
          <p:cNvSpPr/>
          <p:nvPr/>
        </p:nvSpPr>
        <p:spPr>
          <a:xfrm>
            <a:off x="4791456" y="5084064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5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recall for eligible cohorts and compares the proposed prioritizer against greedy and random baselines.</a:t>
            </a:r>
            <a:endParaRPr lang="en-US" sz="855" dirty="0"/>
          </a:p>
        </p:txBody>
      </p:sp>
      <p:sp>
        <p:nvSpPr>
          <p:cNvPr id="63" name="Text 61"/>
          <p:cNvSpPr/>
          <p:nvPr/>
        </p:nvSpPr>
        <p:spPr>
          <a:xfrm>
            <a:off x="4379976" y="556869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9E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4791456" y="5504688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5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Makes fairness measurable instead of claiming it; the same ranking can be compared on recall and gap.</a:t>
            </a:r>
            <a:endParaRPr lang="en-US" sz="825" dirty="0"/>
          </a:p>
        </p:txBody>
      </p:sp>
      <p:sp>
        <p:nvSpPr>
          <p:cNvPr id="65" name="Shape 63"/>
          <p:cNvSpPr/>
          <p:nvPr/>
        </p:nvSpPr>
        <p:spPr>
          <a:xfrm>
            <a:off x="7882128" y="4645152"/>
            <a:ext cx="37490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882128" y="4645152"/>
            <a:ext cx="64008" cy="1417320"/>
          </a:xfrm>
          <a:prstGeom prst="rect">
            <a:avLst/>
          </a:prstGeom>
          <a:solidFill>
            <a:srgbClr val="D99817"/>
          </a:solidFill>
          <a:ln w="12700">
            <a:solidFill>
              <a:srgbClr val="D9981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037576" y="4809744"/>
            <a:ext cx="301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98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8449056" y="4791456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WHAT-IF + BOUNDARY TEST</a:t>
            </a:r>
            <a:endParaRPr lang="en-US" sz="1180" dirty="0"/>
          </a:p>
        </p:txBody>
      </p:sp>
      <p:sp>
        <p:nvSpPr>
          <p:cNvPr id="69" name="Text 67"/>
          <p:cNvSpPr/>
          <p:nvPr/>
        </p:nvSpPr>
        <p:spPr>
          <a:xfrm>
            <a:off x="8449056" y="5084064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5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Simulates support changes and inspects students near the cut-off (e.g., rank #78 vs #80).</a:t>
            </a:r>
            <a:endParaRPr lang="en-US" sz="855" dirty="0"/>
          </a:p>
        </p:txBody>
      </p:sp>
      <p:sp>
        <p:nvSpPr>
          <p:cNvPr id="70" name="Text 68"/>
          <p:cNvSpPr/>
          <p:nvPr/>
        </p:nvSpPr>
        <p:spPr>
          <a:xfrm>
            <a:off x="8037576" y="556869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998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8449056" y="5504688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5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sensitivity: would a small intervention change risk, and is the 20% boundary defensible?</a:t>
            </a:r>
            <a:endParaRPr lang="en-US" sz="825" dirty="0"/>
          </a:p>
        </p:txBody>
      </p:sp>
      <p:sp>
        <p:nvSpPr>
          <p:cNvPr id="72" name="Shape 70"/>
          <p:cNvSpPr/>
          <p:nvPr/>
        </p:nvSpPr>
        <p:spPr>
          <a:xfrm>
            <a:off x="566928" y="6190488"/>
            <a:ext cx="11064240" cy="256032"/>
          </a:xfrm>
          <a:prstGeom prst="roundRect">
            <a:avLst>
              <a:gd name="adj" fmla="val 14286"/>
            </a:avLst>
          </a:prstGeom>
          <a:solidFill>
            <a:srgbClr val="EEF4F9"/>
          </a:solidFill>
          <a:ln w="10160">
            <a:solidFill>
              <a:srgbClr val="C9D9E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49808" y="6249924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183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PRINCIPLE  •  Predict transparently. Allocate exactly 20%. Audit group-level recall. Then inspect the borderline cases before acting.</a:t>
            </a:r>
            <a:endParaRPr lang="en-US" sz="870" dirty="0"/>
          </a:p>
        </p:txBody>
      </p:sp>
      <p:sp>
        <p:nvSpPr>
          <p:cNvPr id="7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7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96bb127-3170-45b6-baa0-735c51032c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92608" y="246888"/>
            <a:ext cx="11603736" cy="6373368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4480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Techfinity 1.0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3218688" y="402336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APPROACH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3063240" y="877824"/>
            <a:ext cx="6327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4B5F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IMPLEMENTATION: BROWSER-BASED PROTOTYPE</a:t>
            </a:r>
            <a:endParaRPr lang="en-US" sz="1020" dirty="0"/>
          </a:p>
        </p:txBody>
      </p:sp>
      <p:sp>
        <p:nvSpPr>
          <p:cNvPr id="7" name="Text 4"/>
          <p:cNvSpPr/>
          <p:nvPr/>
        </p:nvSpPr>
        <p:spPr>
          <a:xfrm>
            <a:off x="10195560" y="43891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2222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HACK OF</a:t>
            </a:r>
            <a:endParaRPr lang="en-US" sz="1030" dirty="0"/>
          </a:p>
          <a:p>
            <a:pPr marL="0" indent="0" algn="ctr">
              <a:buNone/>
            </a:pPr>
            <a:r>
              <a:rPr lang="en-US" sz="1030" b="1" dirty="0">
                <a:solidFill>
                  <a:srgbClr val="2222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HACKERS 3.0</a:t>
            </a:r>
            <a:endParaRPr lang="en-US" sz="1030" dirty="0"/>
          </a:p>
        </p:txBody>
      </p:sp>
      <p:sp>
        <p:nvSpPr>
          <p:cNvPr id="8" name="Shape 5"/>
          <p:cNvSpPr/>
          <p:nvPr/>
        </p:nvSpPr>
        <p:spPr>
          <a:xfrm>
            <a:off x="502920" y="1307592"/>
            <a:ext cx="1828800" cy="1408176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CCD5DF"/>
            </a:solidFill>
            <a:prstDash val="solid"/>
          </a:ln>
          <a:effectLst>
            <a:outerShdw blurRad="12700" dist="50800" dir="2700000" algn="bl" rotWithShape="0">
              <a:srgbClr val="A6AFBA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02920" y="1307592"/>
            <a:ext cx="68580" cy="1408176"/>
          </a:xfrm>
          <a:prstGeom prst="rect">
            <a:avLst/>
          </a:prstGeom>
          <a:solidFill>
            <a:srgbClr val="4B5FE1"/>
          </a:solidFill>
          <a:ln w="12700">
            <a:solidFill>
              <a:srgbClr val="4B5F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9224" y="145389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2136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 INPUT DATA</a:t>
            </a:r>
            <a:endParaRPr lang="en-US" sz="1130" dirty="0"/>
          </a:p>
        </p:txBody>
      </p:sp>
      <p:sp>
        <p:nvSpPr>
          <p:cNvPr id="11" name="Text 8"/>
          <p:cNvSpPr/>
          <p:nvPr/>
        </p:nvSpPr>
        <p:spPr>
          <a:xfrm>
            <a:off x="658368" y="1764792"/>
            <a:ext cx="15361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G1 + G2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absences + failures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school + sex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58368" y="2258568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4B5FE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HERE</a:t>
            </a:r>
            <a:endParaRPr lang="en-US" sz="690" dirty="0"/>
          </a:p>
        </p:txBody>
      </p:sp>
      <p:sp>
        <p:nvSpPr>
          <p:cNvPr id="13" name="Text 10"/>
          <p:cNvSpPr/>
          <p:nvPr/>
        </p:nvSpPr>
        <p:spPr>
          <a:xfrm>
            <a:off x="658368" y="242316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5866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the permitted signals used for support-risk scoring and group fairness checks.</a:t>
            </a:r>
            <a:endParaRPr lang="en-US" sz="770" dirty="0"/>
          </a:p>
        </p:txBody>
      </p:sp>
      <p:sp>
        <p:nvSpPr>
          <p:cNvPr id="14" name="Shape 11"/>
          <p:cNvSpPr/>
          <p:nvPr/>
        </p:nvSpPr>
        <p:spPr>
          <a:xfrm>
            <a:off x="2514600" y="1307592"/>
            <a:ext cx="1828800" cy="1408176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CCD5DF"/>
            </a:solidFill>
            <a:prstDash val="solid"/>
          </a:ln>
          <a:effectLst>
            <a:outerShdw blurRad="12700" dist="50800" dir="2700000" algn="bl" rotWithShape="0">
              <a:srgbClr val="A6AFBA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514600" y="1307592"/>
            <a:ext cx="68580" cy="1408176"/>
          </a:xfrm>
          <a:prstGeom prst="rect">
            <a:avLst/>
          </a:prstGeom>
          <a:solidFill>
            <a:srgbClr val="18A8BE"/>
          </a:solidFill>
          <a:ln w="12700">
            <a:solidFill>
              <a:srgbClr val="18A8B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660904" y="145389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2136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 INFERENCE</a:t>
            </a:r>
            <a:endParaRPr lang="en-US" sz="1130" dirty="0"/>
          </a:p>
        </p:txBody>
      </p:sp>
      <p:sp>
        <p:nvSpPr>
          <p:cNvPr id="17" name="Text 14"/>
          <p:cNvSpPr/>
          <p:nvPr/>
        </p:nvSpPr>
        <p:spPr>
          <a:xfrm>
            <a:off x="2670048" y="1764792"/>
            <a:ext cx="15361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support-needed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probability per student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2670048" y="2258568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18A8B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HERE</a:t>
            </a:r>
            <a:endParaRPr lang="en-US" sz="690" dirty="0"/>
          </a:p>
        </p:txBody>
      </p:sp>
      <p:sp>
        <p:nvSpPr>
          <p:cNvPr id="19" name="Text 16"/>
          <p:cNvSpPr/>
          <p:nvPr/>
        </p:nvSpPr>
        <p:spPr>
          <a:xfrm>
            <a:off x="2670048" y="242316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5866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continuous probability lets the system rank students instead of forcing an early yes/no decision.</a:t>
            </a:r>
            <a:endParaRPr lang="en-US" sz="770" dirty="0"/>
          </a:p>
        </p:txBody>
      </p:sp>
      <p:sp>
        <p:nvSpPr>
          <p:cNvPr id="20" name="Shape 17"/>
          <p:cNvSpPr/>
          <p:nvPr/>
        </p:nvSpPr>
        <p:spPr>
          <a:xfrm>
            <a:off x="4526280" y="1307592"/>
            <a:ext cx="1828800" cy="1408176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CCD5DF"/>
            </a:solidFill>
            <a:prstDash val="solid"/>
          </a:ln>
          <a:effectLst>
            <a:outerShdw blurRad="12700" dist="50800" dir="2700000" algn="bl" rotWithShape="0">
              <a:srgbClr val="A6AFBA">
                <a:alpha val="2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26280" y="1307592"/>
            <a:ext cx="68580" cy="1408176"/>
          </a:xfrm>
          <a:prstGeom prst="rect">
            <a:avLst/>
          </a:prstGeom>
          <a:solidFill>
            <a:srgbClr val="1E9B68"/>
          </a:solidFill>
          <a:ln w="12700">
            <a:solidFill>
              <a:srgbClr val="1E9B6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72584" y="145389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2136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 SELECTION</a:t>
            </a:r>
            <a:endParaRPr lang="en-US" sz="1130" dirty="0"/>
          </a:p>
        </p:txBody>
      </p:sp>
      <p:sp>
        <p:nvSpPr>
          <p:cNvPr id="23" name="Text 20"/>
          <p:cNvSpPr/>
          <p:nvPr/>
        </p:nvSpPr>
        <p:spPr>
          <a:xfrm>
            <a:off x="4681728" y="1764792"/>
            <a:ext cx="15361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 by probability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exact ⌈0.20 × N⌉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79 of 395 in benchmark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681728" y="2258568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1E9B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HERE</a:t>
            </a:r>
            <a:endParaRPr lang="en-US" sz="690" dirty="0"/>
          </a:p>
        </p:txBody>
      </p:sp>
      <p:sp>
        <p:nvSpPr>
          <p:cNvPr id="25" name="Text 22"/>
          <p:cNvSpPr/>
          <p:nvPr/>
        </p:nvSpPr>
        <p:spPr>
          <a:xfrm>
            <a:off x="4681728" y="242316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5866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20% capacity is fixed, so the ranked scores must become an exact, auditable support cohort.</a:t>
            </a:r>
            <a:endParaRPr lang="en-US" sz="770" dirty="0"/>
          </a:p>
        </p:txBody>
      </p:sp>
      <p:sp>
        <p:nvSpPr>
          <p:cNvPr id="26" name="Shape 23"/>
          <p:cNvSpPr/>
          <p:nvPr/>
        </p:nvSpPr>
        <p:spPr>
          <a:xfrm>
            <a:off x="6537960" y="1307592"/>
            <a:ext cx="1828800" cy="1408176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CCD5DF"/>
            </a:solidFill>
            <a:prstDash val="solid"/>
          </a:ln>
          <a:effectLst>
            <a:outerShdw blurRad="12700" dist="50800" dir="2700000" algn="bl" rotWithShape="0">
              <a:srgbClr val="A6AFBA">
                <a:alpha val="2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537960" y="1307592"/>
            <a:ext cx="68580" cy="1408176"/>
          </a:xfrm>
          <a:prstGeom prst="rect">
            <a:avLst/>
          </a:prstGeom>
          <a:solidFill>
            <a:srgbClr val="D89617"/>
          </a:solidFill>
          <a:ln w="12700">
            <a:solidFill>
              <a:srgbClr val="D8961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84264" y="145389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2136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  AUDIT</a:t>
            </a:r>
            <a:endParaRPr lang="en-US" sz="1130" dirty="0"/>
          </a:p>
        </p:txBody>
      </p:sp>
      <p:sp>
        <p:nvSpPr>
          <p:cNvPr id="29" name="Text 26"/>
          <p:cNvSpPr/>
          <p:nvPr/>
        </p:nvSpPr>
        <p:spPr>
          <a:xfrm>
            <a:off x="6693408" y="1764792"/>
            <a:ext cx="15361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 • Rₘᵢₙ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fairness gap • 1−Brier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693408" y="2258568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D896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HERE</a:t>
            </a:r>
            <a:endParaRPr lang="en-US" sz="690" dirty="0"/>
          </a:p>
        </p:txBody>
      </p:sp>
      <p:sp>
        <p:nvSpPr>
          <p:cNvPr id="31" name="Text 28"/>
          <p:cNvSpPr/>
          <p:nvPr/>
        </p:nvSpPr>
        <p:spPr>
          <a:xfrm>
            <a:off x="6693408" y="242316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5866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 ranking is not enough; this step checks worst-group recall, parity and calibration.</a:t>
            </a:r>
            <a:endParaRPr lang="en-US" sz="770" dirty="0"/>
          </a:p>
        </p:txBody>
      </p:sp>
      <p:sp>
        <p:nvSpPr>
          <p:cNvPr id="32" name="Shape 29"/>
          <p:cNvSpPr/>
          <p:nvPr/>
        </p:nvSpPr>
        <p:spPr>
          <a:xfrm>
            <a:off x="8549640" y="1307592"/>
            <a:ext cx="1828800" cy="1408176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CCD5DF"/>
            </a:solidFill>
            <a:prstDash val="solid"/>
          </a:ln>
          <a:effectLst>
            <a:outerShdw blurRad="12700" dist="50800" dir="2700000" algn="bl" rotWithShape="0">
              <a:srgbClr val="A6AFBA">
                <a:alpha val="2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8549640" y="1307592"/>
            <a:ext cx="68580" cy="1408176"/>
          </a:xfrm>
          <a:prstGeom prst="rect">
            <a:avLst/>
          </a:prstGeom>
          <a:solidFill>
            <a:srgbClr val="D64A4A"/>
          </a:solidFill>
          <a:ln w="12700">
            <a:solidFill>
              <a:srgbClr val="D64A4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695944" y="145389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2136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 EXPLAIN</a:t>
            </a:r>
            <a:endParaRPr lang="en-US" sz="1130" dirty="0"/>
          </a:p>
        </p:txBody>
      </p:sp>
      <p:sp>
        <p:nvSpPr>
          <p:cNvPr id="35" name="Text 32"/>
          <p:cNvSpPr/>
          <p:nvPr/>
        </p:nvSpPr>
        <p:spPr>
          <a:xfrm>
            <a:off x="8705088" y="1764792"/>
            <a:ext cx="15361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cohort view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what-if + boundary test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C3E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 evaluator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8705088" y="2258568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90" b="1" dirty="0">
                <a:solidFill>
                  <a:srgbClr val="D64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HERE</a:t>
            </a:r>
            <a:endParaRPr lang="en-US" sz="690" dirty="0"/>
          </a:p>
        </p:txBody>
      </p:sp>
      <p:sp>
        <p:nvSpPr>
          <p:cNvPr id="37" name="Text 34"/>
          <p:cNvSpPr/>
          <p:nvPr/>
        </p:nvSpPr>
        <p:spPr>
          <a:xfrm>
            <a:off x="8705088" y="242316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5866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tools let a reviewer inspect the score, test sensitivity and verify the same ranking independently.</a:t>
            </a:r>
            <a:endParaRPr lang="en-US" sz="770" dirty="0"/>
          </a:p>
        </p:txBody>
      </p:sp>
      <p:sp>
        <p:nvSpPr>
          <p:cNvPr id="38" name="Shape 35"/>
          <p:cNvSpPr/>
          <p:nvPr/>
        </p:nvSpPr>
        <p:spPr>
          <a:xfrm>
            <a:off x="2350008" y="1920240"/>
            <a:ext cx="164592" cy="237744"/>
          </a:xfrm>
          <a:prstGeom prst="chevron">
            <a:avLst/>
          </a:prstGeom>
          <a:solidFill>
            <a:srgbClr val="6E7A89"/>
          </a:solidFill>
          <a:ln w="12700">
            <a:solidFill>
              <a:srgbClr val="6E7A89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361688" y="1920240"/>
            <a:ext cx="164592" cy="237744"/>
          </a:xfrm>
          <a:prstGeom prst="chevron">
            <a:avLst/>
          </a:prstGeom>
          <a:solidFill>
            <a:srgbClr val="6E7A89"/>
          </a:solidFill>
          <a:ln w="12700">
            <a:solidFill>
              <a:srgbClr val="6E7A8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373368" y="1920240"/>
            <a:ext cx="164592" cy="237744"/>
          </a:xfrm>
          <a:prstGeom prst="chevron">
            <a:avLst/>
          </a:prstGeom>
          <a:solidFill>
            <a:srgbClr val="6E7A89"/>
          </a:solidFill>
          <a:ln w="12700">
            <a:solidFill>
              <a:srgbClr val="6E7A89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385048" y="1920240"/>
            <a:ext cx="164592" cy="237744"/>
          </a:xfrm>
          <a:prstGeom prst="chevron">
            <a:avLst/>
          </a:prstGeom>
          <a:solidFill>
            <a:srgbClr val="6E7A89"/>
          </a:solidFill>
          <a:ln w="12700">
            <a:solidFill>
              <a:srgbClr val="6E7A8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48640" y="307238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b="1" dirty="0">
                <a:solidFill>
                  <a:srgbClr val="2136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STACK</a:t>
            </a:r>
            <a:endParaRPr lang="en-US" sz="1230" dirty="0"/>
          </a:p>
        </p:txBody>
      </p:sp>
      <p:sp>
        <p:nvSpPr>
          <p:cNvPr id="43" name="Shape 40"/>
          <p:cNvSpPr/>
          <p:nvPr/>
        </p:nvSpPr>
        <p:spPr>
          <a:xfrm>
            <a:off x="521208" y="3401568"/>
            <a:ext cx="1271016" cy="310896"/>
          </a:xfrm>
          <a:prstGeom prst="roundRect">
            <a:avLst>
              <a:gd name="adj" fmla="val 11765"/>
            </a:avLst>
          </a:prstGeom>
          <a:solidFill>
            <a:srgbClr val="F8FAFD"/>
          </a:solidFill>
          <a:ln w="13335">
            <a:solidFill>
              <a:srgbClr val="4B5F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57784" y="3474720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4B5F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</a:t>
            </a:r>
            <a:endParaRPr lang="en-US" sz="770" dirty="0"/>
          </a:p>
        </p:txBody>
      </p:sp>
      <p:sp>
        <p:nvSpPr>
          <p:cNvPr id="45" name="Shape 42"/>
          <p:cNvSpPr/>
          <p:nvPr/>
        </p:nvSpPr>
        <p:spPr>
          <a:xfrm>
            <a:off x="1938528" y="3401568"/>
            <a:ext cx="1271016" cy="310896"/>
          </a:xfrm>
          <a:prstGeom prst="roundRect">
            <a:avLst>
              <a:gd name="adj" fmla="val 11765"/>
            </a:avLst>
          </a:prstGeom>
          <a:solidFill>
            <a:srgbClr val="F8FAFD"/>
          </a:solidFill>
          <a:ln w="13335">
            <a:solidFill>
              <a:srgbClr val="4B5FE1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975104" y="3474720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4B5F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</a:t>
            </a:r>
            <a:endParaRPr lang="en-US" sz="770" dirty="0"/>
          </a:p>
        </p:txBody>
      </p:sp>
      <p:sp>
        <p:nvSpPr>
          <p:cNvPr id="47" name="Shape 44"/>
          <p:cNvSpPr/>
          <p:nvPr/>
        </p:nvSpPr>
        <p:spPr>
          <a:xfrm>
            <a:off x="3355848" y="3401568"/>
            <a:ext cx="1554480" cy="310896"/>
          </a:xfrm>
          <a:prstGeom prst="roundRect">
            <a:avLst>
              <a:gd name="adj" fmla="val 11765"/>
            </a:avLst>
          </a:prstGeom>
          <a:solidFill>
            <a:srgbClr val="F8FAFD"/>
          </a:solidFill>
          <a:ln w="13335">
            <a:solidFill>
              <a:srgbClr val="18A8BE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392424" y="3474720"/>
            <a:ext cx="1481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18A8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JavaScript</a:t>
            </a:r>
            <a:endParaRPr lang="en-US" sz="770" dirty="0"/>
          </a:p>
        </p:txBody>
      </p:sp>
      <p:sp>
        <p:nvSpPr>
          <p:cNvPr id="49" name="Shape 46"/>
          <p:cNvSpPr/>
          <p:nvPr/>
        </p:nvSpPr>
        <p:spPr>
          <a:xfrm>
            <a:off x="5056632" y="3401568"/>
            <a:ext cx="1417320" cy="310896"/>
          </a:xfrm>
          <a:prstGeom prst="roundRect">
            <a:avLst>
              <a:gd name="adj" fmla="val 11765"/>
            </a:avLst>
          </a:prstGeom>
          <a:solidFill>
            <a:srgbClr val="F8FAFD"/>
          </a:solidFill>
          <a:ln w="13335">
            <a:solidFill>
              <a:srgbClr val="1E9B6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093208" y="3474720"/>
            <a:ext cx="1344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1E9B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Three.js</a:t>
            </a:r>
            <a:endParaRPr lang="en-US" sz="770" dirty="0"/>
          </a:p>
        </p:txBody>
      </p:sp>
      <p:sp>
        <p:nvSpPr>
          <p:cNvPr id="51" name="Shape 48"/>
          <p:cNvSpPr/>
          <p:nvPr/>
        </p:nvSpPr>
        <p:spPr>
          <a:xfrm>
            <a:off x="6620256" y="3401568"/>
            <a:ext cx="1417320" cy="310896"/>
          </a:xfrm>
          <a:prstGeom prst="roundRect">
            <a:avLst>
              <a:gd name="adj" fmla="val 11765"/>
            </a:avLst>
          </a:prstGeom>
          <a:solidFill>
            <a:srgbClr val="F8FAFD"/>
          </a:solidFill>
          <a:ln w="13335">
            <a:solidFill>
              <a:srgbClr val="D8961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656832" y="3474720"/>
            <a:ext cx="1344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D896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Chart.js</a:t>
            </a:r>
            <a:endParaRPr lang="en-US" sz="770" dirty="0"/>
          </a:p>
        </p:txBody>
      </p:sp>
      <p:sp>
        <p:nvSpPr>
          <p:cNvPr id="53" name="Shape 50"/>
          <p:cNvSpPr/>
          <p:nvPr/>
        </p:nvSpPr>
        <p:spPr>
          <a:xfrm>
            <a:off x="8183880" y="3401568"/>
            <a:ext cx="1417320" cy="310896"/>
          </a:xfrm>
          <a:prstGeom prst="roundRect">
            <a:avLst>
              <a:gd name="adj" fmla="val 11765"/>
            </a:avLst>
          </a:prstGeom>
          <a:solidFill>
            <a:srgbClr val="F8FAFD"/>
          </a:solidFill>
          <a:ln w="13335">
            <a:solidFill>
              <a:srgbClr val="D64A4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8220456" y="3474720"/>
            <a:ext cx="1344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D6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/ CSV</a:t>
            </a:r>
            <a:endParaRPr lang="en-US" sz="770" dirty="0"/>
          </a:p>
        </p:txBody>
      </p:sp>
      <p:sp>
        <p:nvSpPr>
          <p:cNvPr id="55" name="Shape 52"/>
          <p:cNvSpPr/>
          <p:nvPr/>
        </p:nvSpPr>
        <p:spPr>
          <a:xfrm>
            <a:off x="521208" y="3822192"/>
            <a:ext cx="3401568" cy="1490472"/>
          </a:xfrm>
          <a:prstGeom prst="roundRect">
            <a:avLst>
              <a:gd name="adj" fmla="val 3374"/>
            </a:avLst>
          </a:prstGeom>
          <a:solidFill>
            <a:srgbClr val="FFFFFF"/>
          </a:solidFill>
          <a:ln w="12065">
            <a:solidFill>
              <a:srgbClr val="CCD5DF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521208" y="3822192"/>
            <a:ext cx="64008" cy="1490472"/>
          </a:xfrm>
          <a:prstGeom prst="rect">
            <a:avLst/>
          </a:prstGeom>
          <a:solidFill>
            <a:srgbClr val="4B5FE1"/>
          </a:solidFill>
          <a:ln w="12700">
            <a:solidFill>
              <a:srgbClr val="4B5FE1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85800" y="3959352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136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PROBABILITY</a:t>
            </a:r>
            <a:endParaRPr lang="en-US" sz="1100" dirty="0"/>
          </a:p>
        </p:txBody>
      </p:sp>
      <p:sp>
        <p:nvSpPr>
          <p:cNvPr id="58" name="Text 55"/>
          <p:cNvSpPr/>
          <p:nvPr/>
        </p:nvSpPr>
        <p:spPr>
          <a:xfrm>
            <a:off x="685800" y="4297680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5" dirty="0">
                <a:solidFill>
                  <a:srgbClr val="2C3E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Displayed as the support-needed probability and used directly for ranking. Calibration is checked with Brier score.</a:t>
            </a:r>
            <a:endParaRPr lang="en-US" sz="845" dirty="0"/>
          </a:p>
        </p:txBody>
      </p:sp>
      <p:sp>
        <p:nvSpPr>
          <p:cNvPr id="59" name="Text 56"/>
          <p:cNvSpPr/>
          <p:nvPr/>
        </p:nvSpPr>
        <p:spPr>
          <a:xfrm>
            <a:off x="685800" y="4901184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4B5FE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</a:t>
            </a:r>
            <a:endParaRPr lang="en-US" sz="680" dirty="0"/>
          </a:p>
        </p:txBody>
      </p:sp>
      <p:sp>
        <p:nvSpPr>
          <p:cNvPr id="60" name="Text 57"/>
          <p:cNvSpPr/>
          <p:nvPr/>
        </p:nvSpPr>
        <p:spPr>
          <a:xfrm>
            <a:off x="1005840" y="4855464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5866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risk makes the top-20% selection reproducible and lets reviewers see model confidence.</a:t>
            </a:r>
            <a:endParaRPr lang="en-US" sz="770" dirty="0"/>
          </a:p>
        </p:txBody>
      </p:sp>
      <p:sp>
        <p:nvSpPr>
          <p:cNvPr id="61" name="Shape 58"/>
          <p:cNvSpPr/>
          <p:nvPr/>
        </p:nvSpPr>
        <p:spPr>
          <a:xfrm>
            <a:off x="4114800" y="3822192"/>
            <a:ext cx="3401568" cy="1490472"/>
          </a:xfrm>
          <a:prstGeom prst="roundRect">
            <a:avLst>
              <a:gd name="adj" fmla="val 3374"/>
            </a:avLst>
          </a:prstGeom>
          <a:solidFill>
            <a:srgbClr val="FFFFFF"/>
          </a:solidFill>
          <a:ln w="12065">
            <a:solidFill>
              <a:srgbClr val="CCD5DF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4114800" y="3822192"/>
            <a:ext cx="64008" cy="1490472"/>
          </a:xfrm>
          <a:prstGeom prst="rect">
            <a:avLst/>
          </a:prstGeom>
          <a:solidFill>
            <a:srgbClr val="1E9B68"/>
          </a:solidFill>
          <a:ln w="12700">
            <a:solidFill>
              <a:srgbClr val="1E9B68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279392" y="3959352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136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COUNTERFACTUAL</a:t>
            </a:r>
            <a:endParaRPr lang="en-US" sz="1100" dirty="0"/>
          </a:p>
        </p:txBody>
      </p:sp>
      <p:sp>
        <p:nvSpPr>
          <p:cNvPr id="64" name="Text 61"/>
          <p:cNvSpPr/>
          <p:nvPr/>
        </p:nvSpPr>
        <p:spPr>
          <a:xfrm>
            <a:off x="4279392" y="4297680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5" dirty="0">
                <a:solidFill>
                  <a:srgbClr val="2C3E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Applies a logistic-odds shift when G2, study time or absences are hypothetically changed.</a:t>
            </a:r>
            <a:endParaRPr lang="en-US" sz="845" dirty="0"/>
          </a:p>
        </p:txBody>
      </p:sp>
      <p:sp>
        <p:nvSpPr>
          <p:cNvPr id="65" name="Text 62"/>
          <p:cNvSpPr/>
          <p:nvPr/>
        </p:nvSpPr>
        <p:spPr>
          <a:xfrm>
            <a:off x="4279392" y="4901184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1E9B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</a:t>
            </a:r>
            <a:endParaRPr lang="en-US" sz="680" dirty="0"/>
          </a:p>
        </p:txBody>
      </p:sp>
      <p:sp>
        <p:nvSpPr>
          <p:cNvPr id="66" name="Text 63"/>
          <p:cNvSpPr/>
          <p:nvPr/>
        </p:nvSpPr>
        <p:spPr>
          <a:xfrm>
            <a:off x="4599432" y="4855464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5866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how an intervention could change projected risk without changing the stored student record.</a:t>
            </a:r>
            <a:endParaRPr lang="en-US" sz="770" dirty="0"/>
          </a:p>
        </p:txBody>
      </p:sp>
      <p:sp>
        <p:nvSpPr>
          <p:cNvPr id="67" name="Shape 64"/>
          <p:cNvSpPr/>
          <p:nvPr/>
        </p:nvSpPr>
        <p:spPr>
          <a:xfrm>
            <a:off x="7708392" y="3822192"/>
            <a:ext cx="3657600" cy="1490472"/>
          </a:xfrm>
          <a:prstGeom prst="roundRect">
            <a:avLst>
              <a:gd name="adj" fmla="val 3374"/>
            </a:avLst>
          </a:prstGeom>
          <a:solidFill>
            <a:srgbClr val="FFFFFF"/>
          </a:solidFill>
          <a:ln w="12065">
            <a:solidFill>
              <a:srgbClr val="CCD5DF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7708392" y="3822192"/>
            <a:ext cx="64008" cy="1490472"/>
          </a:xfrm>
          <a:prstGeom prst="rect">
            <a:avLst/>
          </a:prstGeom>
          <a:solidFill>
            <a:srgbClr val="18A8BE"/>
          </a:solidFill>
          <a:ln w="12700">
            <a:solidFill>
              <a:srgbClr val="18A8BE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7872984" y="3959352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136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BLIND EVALUATOR</a:t>
            </a:r>
            <a:endParaRPr lang="en-US" sz="1100" dirty="0"/>
          </a:p>
        </p:txBody>
      </p:sp>
      <p:sp>
        <p:nvSpPr>
          <p:cNvPr id="70" name="Text 67"/>
          <p:cNvSpPr/>
          <p:nvPr/>
        </p:nvSpPr>
        <p:spPr>
          <a:xfrm>
            <a:off x="7872984" y="429768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5" dirty="0">
                <a:solidFill>
                  <a:srgbClr val="2C3E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Accepts CSV rows with G3 removed, computes exactly ⌈0.20 × N⌉ slots, and exposes the inference output CSV.</a:t>
            </a:r>
            <a:endParaRPr lang="en-US" sz="845" dirty="0"/>
          </a:p>
        </p:txBody>
      </p:sp>
      <p:sp>
        <p:nvSpPr>
          <p:cNvPr id="71" name="Text 68"/>
          <p:cNvSpPr/>
          <p:nvPr/>
        </p:nvSpPr>
        <p:spPr>
          <a:xfrm>
            <a:off x="7872984" y="4901184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18A8B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</a:t>
            </a:r>
            <a:endParaRPr lang="en-US" sz="680" dirty="0"/>
          </a:p>
        </p:txBody>
      </p:sp>
      <p:sp>
        <p:nvSpPr>
          <p:cNvPr id="72" name="Text 69"/>
          <p:cNvSpPr/>
          <p:nvPr/>
        </p:nvSpPr>
        <p:spPr>
          <a:xfrm>
            <a:off x="8193024" y="4855464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5866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the deployed inference path on unseen rows without allowing the target to leak into the decision.</a:t>
            </a:r>
            <a:endParaRPr lang="en-US" sz="770" dirty="0"/>
          </a:p>
        </p:txBody>
      </p:sp>
      <p:sp>
        <p:nvSpPr>
          <p:cNvPr id="73" name="Shape 70"/>
          <p:cNvSpPr/>
          <p:nvPr/>
        </p:nvSpPr>
        <p:spPr>
          <a:xfrm>
            <a:off x="521208" y="5632704"/>
            <a:ext cx="10972800" cy="420624"/>
          </a:xfrm>
          <a:prstGeom prst="roundRect">
            <a:avLst>
              <a:gd name="adj" fmla="val 10870"/>
            </a:avLst>
          </a:prstGeom>
          <a:solidFill>
            <a:srgbClr val="EEF4F9"/>
          </a:solidFill>
          <a:ln w="10160">
            <a:solidFill>
              <a:srgbClr val="C8D7E6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722376" y="5742432"/>
            <a:ext cx="10570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END-TO-END:  INPUT → SUPPORT PROBABILITY → EXACT 20% SELECTION → FAIRNESS / CALIBRATION AUDIT → HUMAN EXPLANATION</a:t>
            </a:r>
            <a:endParaRPr lang="en-US" sz="880" dirty="0"/>
          </a:p>
        </p:txBody>
      </p:sp>
      <p:sp>
        <p:nvSpPr>
          <p:cNvPr id="75" name="Text 72"/>
          <p:cNvSpPr/>
          <p:nvPr/>
        </p:nvSpPr>
        <p:spPr>
          <a:xfrm>
            <a:off x="557784" y="6199632"/>
            <a:ext cx="7863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784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ED-01 • Responsible &amp; Explainable AI in EdTech  |  Prototype view for judges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8229600" y="6199632"/>
            <a:ext cx="3246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7784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AURA • Fair Student-Support Prioritization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 txBox="1"/>
          <p:nvPr/>
        </p:nvSpPr>
        <p:spPr>
          <a:xfrm>
            <a:off x="609600" y="2857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endParaRPr sz="3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12" name="Google Shape;112;p4"/>
          <p:cNvSpPr txBox="1"/>
          <p:nvPr/>
        </p:nvSpPr>
        <p:spPr>
          <a:xfrm>
            <a:off x="270387" y="2305616"/>
            <a:ext cx="11651226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/>
          </a:p>
        </p:txBody>
      </p:sp>
      <p:sp>
        <p:nvSpPr>
          <p:cNvPr id="113" name="Rounded Rectangle 112"/>
          <p:cNvSpPr/>
          <p:nvPr/>
        </p:nvSpPr>
        <p:spPr>
          <a:xfrm>
            <a:off x="502920" y="1417320"/>
            <a:ext cx="29992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502920" y="1417320"/>
            <a:ext cx="73152" cy="1143000"/>
          </a:xfrm>
          <a:prstGeom prst="rect">
            <a:avLst/>
          </a:prstGeom>
          <a:solidFill>
            <a:srgbClr val="485B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67512" y="1527048"/>
            <a:ext cx="2724912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>
                <a:solidFill>
                  <a:srgbClr val="14324E"/>
                </a:solidFill>
                <a:latin typeface="Aptos"/>
              </a:rPr>
              <a:t>WORKING PROTOTYPE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67512" y="1892808"/>
            <a:ext cx="2706624" cy="5760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>
                <a:solidFill>
                  <a:srgbClr val="182330"/>
                </a:solidFill>
                <a:latin typeface="Aptos"/>
              </a:rPr>
              <a:t>Four judge-facing views are already wired: overview, 3D constellation, parity arena and what-if/evaluation lab.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3657600" y="1417320"/>
            <a:ext cx="29992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3657600" y="1417320"/>
            <a:ext cx="73152" cy="1143000"/>
          </a:xfrm>
          <a:prstGeom prst="rect">
            <a:avLst/>
          </a:prstGeom>
          <a:solidFill>
            <a:srgbClr val="199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3822191" y="1527048"/>
            <a:ext cx="2724912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>
                <a:solidFill>
                  <a:srgbClr val="14324E"/>
                </a:solidFill>
                <a:latin typeface="Aptos"/>
              </a:rPr>
              <a:t>SOFTWARE-ONLY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822191" y="1892808"/>
            <a:ext cx="2706624" cy="5760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>
                <a:solidFill>
                  <a:srgbClr val="182330"/>
                </a:solidFill>
                <a:latin typeface="Aptos"/>
              </a:rPr>
              <a:t>Runs in a browser; no special hardware or deployment infrastructure is required for the demo.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812280" y="1417320"/>
            <a:ext cx="299923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6812280" y="1417320"/>
            <a:ext cx="73152" cy="1143000"/>
          </a:xfrm>
          <a:prstGeom prst="rect">
            <a:avLst/>
          </a:prstGeom>
          <a:solidFill>
            <a:srgbClr val="1B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6976872" y="1527048"/>
            <a:ext cx="2724912" cy="2926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>
                <a:solidFill>
                  <a:srgbClr val="14324E"/>
                </a:solidFill>
                <a:latin typeface="Aptos"/>
              </a:rPr>
              <a:t>EVALUATION READY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976872" y="1892808"/>
            <a:ext cx="2706624" cy="5760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0">
                <a:solidFill>
                  <a:srgbClr val="182330"/>
                </a:solidFill>
                <a:latin typeface="Aptos"/>
              </a:rPr>
              <a:t>The UI exposes benchmark metrics and a CSV upload path for blind evaluation.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02920" y="2788920"/>
            <a:ext cx="9326880" cy="36576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400" b="1">
                <a:solidFill>
                  <a:srgbClr val="14324E"/>
                </a:solidFill>
                <a:latin typeface="Aptos"/>
              </a:rPr>
              <a:t>RISKS &amp; MITIGATIONS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30352" y="3273552"/>
            <a:ext cx="9326880" cy="475488"/>
          </a:xfrm>
          <a:prstGeom prst="roundRect">
            <a:avLst/>
          </a:prstGeom>
          <a:solidFill>
            <a:srgbClr val="F1F5F9"/>
          </a:solidFill>
          <a:ln w="7620">
            <a:solidFill>
              <a:srgbClr val="CF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694944" y="3328416"/>
            <a:ext cx="233172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14324E"/>
                </a:solidFill>
                <a:latin typeface="Aptos"/>
              </a:rPr>
              <a:t>Data quality / missing values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090672" y="3328416"/>
            <a:ext cx="653796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>
                <a:solidFill>
                  <a:srgbClr val="182330"/>
                </a:solidFill>
                <a:latin typeface="Aptos"/>
              </a:rPr>
              <a:t>Keep student IDs opaque; evaluate on structured CSV input and inspect boundary cases.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30352" y="3840480"/>
            <a:ext cx="932688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F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694944" y="3895344"/>
            <a:ext cx="233172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14324E"/>
                </a:solidFill>
                <a:latin typeface="Aptos"/>
              </a:rPr>
              <a:t>Fairness metric trade-offs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090672" y="3895344"/>
            <a:ext cx="653796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>
                <a:solidFill>
                  <a:srgbClr val="182330"/>
                </a:solidFill>
                <a:latin typeface="Aptos"/>
              </a:rPr>
              <a:t>Report group recall + Rmin + fairness gap together instead of optimizing one number only.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30352" y="4407408"/>
            <a:ext cx="9326880" cy="475488"/>
          </a:xfrm>
          <a:prstGeom prst="roundRect">
            <a:avLst/>
          </a:prstGeom>
          <a:solidFill>
            <a:srgbClr val="F1F5F9"/>
          </a:solidFill>
          <a:ln w="7620">
            <a:solidFill>
              <a:srgbClr val="CF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694944" y="4462272"/>
            <a:ext cx="233172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14324E"/>
                </a:solidFill>
                <a:latin typeface="Aptos"/>
              </a:rPr>
              <a:t>Threshold sensitivity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090672" y="4462272"/>
            <a:ext cx="653796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>
                <a:solidFill>
                  <a:srgbClr val="182330"/>
                </a:solidFill>
                <a:latin typeface="Aptos"/>
              </a:rPr>
              <a:t>Keep the allocation rule explicit: exactly ceil(0.20 × N) support slots.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530352" y="4974336"/>
            <a:ext cx="9326880" cy="4754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F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694944" y="5029200"/>
            <a:ext cx="233172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00" b="1">
                <a:solidFill>
                  <a:srgbClr val="14324E"/>
                </a:solidFill>
                <a:latin typeface="Aptos"/>
              </a:rPr>
              <a:t>Privacy / misuse risk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090672" y="5029200"/>
            <a:ext cx="6537960" cy="34747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>
                <a:solidFill>
                  <a:srgbClr val="182330"/>
                </a:solidFill>
                <a:latin typeface="Aptos"/>
              </a:rPr>
              <a:t>Use support as affirmative, non-punitive intervention; the prototype notes that support is excluded from public records.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48640" y="5596128"/>
            <a:ext cx="923544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050" b="1">
                <a:solidFill>
                  <a:srgbClr val="566372"/>
                </a:solidFill>
                <a:latin typeface="Aptos"/>
              </a:rPr>
              <a:t>Feasibility claim: the prototype demonstrates the full decision → audit → explanation loop without requiring a new hardware stack.</a:t>
            </a:r>
          </a:p>
        </p:txBody>
      </p:sp>
      <p:sp>
        <p:nvSpPr>
          <p:cNvPr id="3" name="Google Shape;88;p1">
            <a:extLst>
              <a:ext uri="{FF2B5EF4-FFF2-40B4-BE49-F238E27FC236}">
                <a16:creationId xmlns:a16="http://schemas.microsoft.com/office/drawing/2014/main" id="{C509C5D8-145C-C08C-B4F6-5CAA2774E78E}"/>
              </a:ext>
            </a:extLst>
          </p:cNvPr>
          <p:cNvSpPr txBox="1"/>
          <p:nvPr/>
        </p:nvSpPr>
        <p:spPr>
          <a:xfrm>
            <a:off x="367604" y="522621"/>
            <a:ext cx="221225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400" b="1" dirty="0">
                <a:solidFill>
                  <a:srgbClr val="14324E"/>
                </a:solidFill>
                <a:latin typeface="Aptos"/>
              </a:rPr>
              <a:t>Techfinity 1.0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2ba45f-beeb-4410-b2a4-94027fa7055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1752" y="210312"/>
            <a:ext cx="11594592" cy="643737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2064" y="576072"/>
            <a:ext cx="22402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50" b="1">
                <a:solidFill>
                  <a:srgbClr val="1F384B"/>
                </a:solidFill>
                <a:latin typeface="Arial"/>
              </a:rPr>
              <a:t>Techfinity 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521207"/>
            <a:ext cx="630936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500" b="1">
                <a:solidFill>
                  <a:srgbClr val="050505"/>
                </a:solidFill>
                <a:latin typeface="Georgia"/>
              </a:rPr>
              <a:t>IMPACT AND BENEFITS</a:t>
            </a:r>
          </a:p>
        </p:txBody>
      </p:sp>
      <p:pic>
        <p:nvPicPr>
          <p:cNvPr id="6" name="Picture 5" descr="coc_log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48" y="411480"/>
            <a:ext cx="1783080" cy="8595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07792" y="1307592"/>
            <a:ext cx="63550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69" b="1">
                <a:solidFill>
                  <a:srgbClr val="1F384B"/>
                </a:solidFill>
                <a:latin typeface="Arial"/>
              </a:rPr>
              <a:t>BENCHMARK IMPACT — HOW THE DATA DRIVES AURA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819" y="1576425"/>
            <a:ext cx="2029968" cy="1133856"/>
          </a:xfrm>
          <a:prstGeom prst="roundRect">
            <a:avLst/>
          </a:prstGeom>
          <a:solidFill>
            <a:srgbClr val="E4E8EB"/>
          </a:solidFill>
          <a:ln w="10160">
            <a:solidFill>
              <a:srgbClr val="E4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2029968" cy="11338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554480"/>
            <a:ext cx="54864" cy="1133856"/>
          </a:xfrm>
          <a:prstGeom prst="rect">
            <a:avLst/>
          </a:prstGeom>
          <a:solidFill>
            <a:srgbClr val="465ECA"/>
          </a:solidFill>
          <a:ln>
            <a:solidFill>
              <a:srgbClr val="465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682495"/>
            <a:ext cx="180136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90" b="1">
                <a:solidFill>
                  <a:srgbClr val="1F384B"/>
                </a:solidFill>
                <a:latin typeface="Arial"/>
              </a:rPr>
              <a:t>G1 + G2  |  ACADEMIC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84248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50" b="0">
                <a:solidFill>
                  <a:srgbClr val="32373C"/>
                </a:solidFill>
                <a:latin typeface="Arial"/>
              </a:rPr>
              <a:t>Recent exam scores → used as the strongest direct view of current performance and the change from Period 1 to Period 2.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5379" y="1576425"/>
            <a:ext cx="2029968" cy="1133856"/>
          </a:xfrm>
          <a:prstGeom prst="roundRect">
            <a:avLst/>
          </a:prstGeom>
          <a:solidFill>
            <a:srgbClr val="E4E8EB"/>
          </a:solidFill>
          <a:ln w="10160">
            <a:solidFill>
              <a:srgbClr val="E4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788920" y="1554480"/>
            <a:ext cx="2029968" cy="11338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88920" y="1554480"/>
            <a:ext cx="54864" cy="1133856"/>
          </a:xfrm>
          <a:prstGeom prst="rect">
            <a:avLst/>
          </a:prstGeom>
          <a:solidFill>
            <a:srgbClr val="27A5C0"/>
          </a:solidFill>
          <a:ln>
            <a:solidFill>
              <a:srgbClr val="27A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79" y="1682495"/>
            <a:ext cx="180136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90" b="1">
                <a:solidFill>
                  <a:srgbClr val="1F384B"/>
                </a:solidFill>
                <a:latin typeface="Arial"/>
              </a:rPr>
              <a:t>FAILURES + ABSENCES +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79" y="1984248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50" b="0">
                <a:solidFill>
                  <a:srgbClr val="32373C"/>
                </a:solidFill>
                <a:latin typeface="Arial"/>
              </a:rPr>
              <a:t>Persistence &amp; context → used to explain support need and tailor intervention scenarios, not simply rank students.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99939" y="1576425"/>
            <a:ext cx="2029968" cy="1133856"/>
          </a:xfrm>
          <a:prstGeom prst="roundRect">
            <a:avLst/>
          </a:prstGeom>
          <a:solidFill>
            <a:srgbClr val="E4E8EB"/>
          </a:solidFill>
          <a:ln w="10160">
            <a:solidFill>
              <a:srgbClr val="E4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983480" y="1554480"/>
            <a:ext cx="2029968" cy="11338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983480" y="1554480"/>
            <a:ext cx="54864" cy="1133856"/>
          </a:xfrm>
          <a:prstGeom prst="rect">
            <a:avLst/>
          </a:prstGeom>
          <a:solidFill>
            <a:srgbClr val="299471"/>
          </a:solidFill>
          <a:ln>
            <a:solidFill>
              <a:srgbClr val="2994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0" y="1682495"/>
            <a:ext cx="180136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90" b="1">
                <a:solidFill>
                  <a:srgbClr val="1F384B"/>
                </a:solidFill>
                <a:latin typeface="Arial"/>
              </a:rPr>
              <a:t>SCHOOL + SEX + 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1984248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50" b="0">
                <a:solidFill>
                  <a:srgbClr val="32373C"/>
                </a:solidFill>
                <a:latin typeface="Arial"/>
              </a:rPr>
              <a:t>Cohort &amp; audit context → used for group views and parity checks so model quality is visible across groups.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94499" y="1576425"/>
            <a:ext cx="2029968" cy="1133856"/>
          </a:xfrm>
          <a:prstGeom prst="roundRect">
            <a:avLst/>
          </a:prstGeom>
          <a:solidFill>
            <a:srgbClr val="E4E8EB"/>
          </a:solidFill>
          <a:ln w="10160">
            <a:solidFill>
              <a:srgbClr val="E4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178040" y="1554480"/>
            <a:ext cx="2029968" cy="11338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178040" y="1554480"/>
            <a:ext cx="54864" cy="1133856"/>
          </a:xfrm>
          <a:prstGeom prst="rect">
            <a:avLst/>
          </a:prstGeom>
          <a:solidFill>
            <a:srgbClr val="E7A428"/>
          </a:solidFill>
          <a:ln>
            <a:solidFill>
              <a:srgbClr val="E7A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0" y="1682495"/>
            <a:ext cx="180136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90" b="1">
                <a:solidFill>
                  <a:srgbClr val="1F384B"/>
                </a:solidFill>
                <a:latin typeface="Arial"/>
              </a:rPr>
              <a:t>G3  |  TARGET / EVALUATION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1984248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50" b="0">
                <a:solidFill>
                  <a:srgbClr val="32373C"/>
                </a:solidFill>
                <a:latin typeface="Arial"/>
              </a:rPr>
              <a:t>Future outcome → used to measure recall/calibration after selection; stripped from blind test inputs to avoid leakage.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2907792"/>
            <a:ext cx="2029968" cy="7040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2999232"/>
            <a:ext cx="202996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20" b="1">
                <a:solidFill>
                  <a:srgbClr val="465ECA"/>
                </a:solidFill>
                <a:latin typeface="Arial"/>
              </a:rPr>
              <a:t>77.61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3236976"/>
            <a:ext cx="2029968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80" b="1">
                <a:solidFill>
                  <a:srgbClr val="1F384B"/>
                </a:solidFill>
                <a:latin typeface="Arial"/>
              </a:rPr>
              <a:t>AURA 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3401568"/>
            <a:ext cx="2029968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560" b="0">
                <a:solidFill>
                  <a:srgbClr val="5B656E"/>
                </a:solidFill>
                <a:latin typeface="Arial"/>
              </a:rPr>
              <a:t>overall utility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07208" y="2907792"/>
            <a:ext cx="2029968" cy="7040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807208" y="2999232"/>
            <a:ext cx="202996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20" b="1">
                <a:solidFill>
                  <a:srgbClr val="27A5C0"/>
                </a:solidFill>
                <a:latin typeface="Arial"/>
              </a:rPr>
              <a:t>60.77%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07208" y="3236976"/>
            <a:ext cx="2029968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80" b="1">
                <a:solidFill>
                  <a:srgbClr val="1F384B"/>
                </a:solidFill>
                <a:latin typeface="Arial"/>
              </a:rPr>
              <a:t>Top-20% recall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07208" y="3401568"/>
            <a:ext cx="2029968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560" b="0">
                <a:solidFill>
                  <a:srgbClr val="5B656E"/>
                </a:solidFill>
                <a:latin typeface="Arial"/>
              </a:rPr>
              <a:t>need captured in fixed budget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0056" y="2907792"/>
            <a:ext cx="2029968" cy="7040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0056" y="2999232"/>
            <a:ext cx="202996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20" b="1">
                <a:solidFill>
                  <a:srgbClr val="299471"/>
                </a:solidFill>
                <a:latin typeface="Arial"/>
              </a:rPr>
              <a:t>4.97%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0056" y="3236976"/>
            <a:ext cx="2029968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80" b="1">
                <a:solidFill>
                  <a:srgbClr val="1F384B"/>
                </a:solidFill>
                <a:latin typeface="Arial"/>
              </a:rPr>
              <a:t>Fairness gap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0056" y="3401568"/>
            <a:ext cx="2029968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560" b="0">
                <a:solidFill>
                  <a:srgbClr val="5B656E"/>
                </a:solidFill>
                <a:latin typeface="Arial"/>
              </a:rPr>
              <a:t>group recall difference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32904" y="2907792"/>
            <a:ext cx="2029968" cy="7040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232904" y="2999232"/>
            <a:ext cx="202996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20" b="1">
                <a:solidFill>
                  <a:srgbClr val="E7A428"/>
                </a:solidFill>
                <a:latin typeface="Arial"/>
              </a:rPr>
              <a:t>0.0374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32904" y="3236976"/>
            <a:ext cx="2029968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80" b="1">
                <a:solidFill>
                  <a:srgbClr val="1F384B"/>
                </a:solidFill>
                <a:latin typeface="Arial"/>
              </a:rPr>
              <a:t>Brier score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32904" y="3401568"/>
            <a:ext cx="2029968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560" b="0">
                <a:solidFill>
                  <a:srgbClr val="5B656E"/>
                </a:solidFill>
                <a:latin typeface="Arial"/>
              </a:rPr>
              <a:t>probability calibration error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60520" y="3803904"/>
            <a:ext cx="3886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69" b="1">
                <a:solidFill>
                  <a:srgbClr val="1F384B"/>
                </a:solidFill>
                <a:latin typeface="Arial"/>
              </a:rPr>
              <a:t>WHY IT MATTERS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6539" y="4119372"/>
            <a:ext cx="3840480" cy="621792"/>
          </a:xfrm>
          <a:prstGeom prst="roundRect">
            <a:avLst/>
          </a:prstGeom>
          <a:solidFill>
            <a:srgbClr val="E4E8EB"/>
          </a:solidFill>
          <a:ln w="10160">
            <a:solidFill>
              <a:srgbClr val="E4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40080" y="4096512"/>
            <a:ext cx="384048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40080" y="4096512"/>
            <a:ext cx="64008" cy="621792"/>
          </a:xfrm>
          <a:prstGeom prst="rect">
            <a:avLst/>
          </a:prstGeom>
          <a:solidFill>
            <a:srgbClr val="465ECA"/>
          </a:solidFill>
          <a:ln>
            <a:solidFill>
              <a:srgbClr val="465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4671" y="4206240"/>
            <a:ext cx="3584448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>
                <a:solidFill>
                  <a:srgbClr val="1F384B"/>
                </a:solidFill>
                <a:latin typeface="Arial"/>
              </a:rPr>
              <a:t>FOR INSTITUTIONS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1" y="4398264"/>
            <a:ext cx="3584448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70" b="0">
                <a:solidFill>
                  <a:srgbClr val="32373C"/>
                </a:solidFill>
                <a:latin typeface="Arial"/>
              </a:rPr>
              <a:t>20% support capacity is enforced deterministically: 79 of 395 students are selected for support.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45659" y="4119372"/>
            <a:ext cx="3840480" cy="621792"/>
          </a:xfrm>
          <a:prstGeom prst="roundRect">
            <a:avLst/>
          </a:prstGeom>
          <a:solidFill>
            <a:srgbClr val="E4E8EB"/>
          </a:solidFill>
          <a:ln w="10160">
            <a:solidFill>
              <a:srgbClr val="E4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5029200" y="4096512"/>
            <a:ext cx="384048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029200" y="4096512"/>
            <a:ext cx="64008" cy="621792"/>
          </a:xfrm>
          <a:prstGeom prst="rect">
            <a:avLst/>
          </a:prstGeom>
          <a:solidFill>
            <a:srgbClr val="299471"/>
          </a:solidFill>
          <a:ln>
            <a:solidFill>
              <a:srgbClr val="2994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93792" y="4206240"/>
            <a:ext cx="3584448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>
                <a:solidFill>
                  <a:srgbClr val="1F384B"/>
                </a:solidFill>
                <a:latin typeface="Arial"/>
              </a:rPr>
              <a:t>FOR STUDENTS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93792" y="4398264"/>
            <a:ext cx="3584448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70" b="0">
                <a:solidFill>
                  <a:srgbClr val="32373C"/>
                </a:solidFill>
                <a:latin typeface="Arial"/>
              </a:rPr>
              <a:t>G1→G2 trajectory + support probability makes the decision inspectable; support stays affirmative and non-punitive.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6539" y="4869180"/>
            <a:ext cx="3840480" cy="621792"/>
          </a:xfrm>
          <a:prstGeom prst="roundRect">
            <a:avLst/>
          </a:prstGeom>
          <a:solidFill>
            <a:srgbClr val="E4E8EB"/>
          </a:solidFill>
          <a:ln w="10160">
            <a:solidFill>
              <a:srgbClr val="E4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640080" y="4846320"/>
            <a:ext cx="384048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40080" y="4846320"/>
            <a:ext cx="64008" cy="621792"/>
          </a:xfrm>
          <a:prstGeom prst="rect">
            <a:avLst/>
          </a:prstGeom>
          <a:solidFill>
            <a:srgbClr val="27A5C0"/>
          </a:solidFill>
          <a:ln>
            <a:solidFill>
              <a:srgbClr val="27A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04671" y="4956048"/>
            <a:ext cx="3584448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>
                <a:solidFill>
                  <a:srgbClr val="1F384B"/>
                </a:solidFill>
                <a:latin typeface="Arial"/>
              </a:rPr>
              <a:t>FOR REVIEWERS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1" y="5148072"/>
            <a:ext cx="3584448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70" b="0">
                <a:solidFill>
                  <a:srgbClr val="32373C"/>
                </a:solidFill>
                <a:latin typeface="Arial"/>
              </a:rPr>
              <a:t>Recall, worst-group recall, fairness gap and calibration can be inspected together against model baselines.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45659" y="4869180"/>
            <a:ext cx="3840480" cy="621792"/>
          </a:xfrm>
          <a:prstGeom prst="roundRect">
            <a:avLst/>
          </a:prstGeom>
          <a:solidFill>
            <a:srgbClr val="E4E8EB"/>
          </a:solidFill>
          <a:ln w="10160">
            <a:solidFill>
              <a:srgbClr val="E4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029200" y="4846320"/>
            <a:ext cx="384048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029200" y="4846320"/>
            <a:ext cx="64008" cy="621792"/>
          </a:xfrm>
          <a:prstGeom prst="rect">
            <a:avLst/>
          </a:prstGeom>
          <a:solidFill>
            <a:srgbClr val="E7A428"/>
          </a:solidFill>
          <a:ln>
            <a:solidFill>
              <a:srgbClr val="E7A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193792" y="4956048"/>
            <a:ext cx="3584448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>
                <a:solidFill>
                  <a:srgbClr val="1F384B"/>
                </a:solidFill>
                <a:latin typeface="Arial"/>
              </a:rPr>
              <a:t>FOR GOVERNANCE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93792" y="5148072"/>
            <a:ext cx="3584448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70" b="0">
                <a:solidFill>
                  <a:srgbClr val="32373C"/>
                </a:solidFill>
                <a:latin typeface="Arial"/>
              </a:rPr>
              <a:t>School/sex groups are audited separately, while blind CSV testing removes G3 so evaluation reflects real prediction.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5840" y="5742432"/>
            <a:ext cx="9235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40" b="1">
                <a:solidFill>
                  <a:srgbClr val="5B656E"/>
                </a:solidFill>
                <a:latin typeface="Arial"/>
              </a:rPr>
              <a:t>DATA FLOW: G1/G2 + context → support probability → rank top 20% → fairness audit → targeted support → evaluate with G3.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0352" y="6382512"/>
            <a:ext cx="4389120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70" b="1">
                <a:solidFill>
                  <a:srgbClr val="626C75"/>
                </a:solidFill>
                <a:latin typeface="Arial"/>
              </a:rPr>
              <a:t>TECHFINITY 1.0  •  AURA / FAIR STUDENT-SUPPORT PRIORITIZATION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93808" y="6382512"/>
            <a:ext cx="1298448" cy="128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570" b="1">
                <a:solidFill>
                  <a:srgbClr val="626C75"/>
                </a:solidFill>
                <a:latin typeface="Arial"/>
              </a:rPr>
              <a:t>ED-01  •  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9-12 at 3.06.22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74320" y="201168"/>
            <a:ext cx="11612880" cy="64190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5488" y="603504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1F384B"/>
                </a:solidFill>
                <a:latin typeface="Arial"/>
              </a:rPr>
              <a:t>Techfinity 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484632"/>
            <a:ext cx="7360920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 i="0">
                <a:solidFill>
                  <a:srgbClr val="050505"/>
                </a:solidFill>
                <a:latin typeface="Georgia"/>
              </a:rPr>
              <a:t>RESEARCH  AND 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15184" y="1298448"/>
            <a:ext cx="69951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1F384B"/>
                </a:solidFill>
                <a:latin typeface="Arial"/>
              </a:rPr>
              <a:t>SOURCE MATERIAL USED TO BUILD AND VALIDATE AURA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" y="1796795"/>
            <a:ext cx="2788920" cy="1344168"/>
          </a:xfrm>
          <a:prstGeom prst="roundRect">
            <a:avLst/>
          </a:prstGeom>
          <a:solidFill>
            <a:srgbClr val="E0E4E8"/>
          </a:solidFill>
          <a:ln w="1016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764792"/>
            <a:ext cx="2788920" cy="1344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764792"/>
            <a:ext cx="64008" cy="1344168"/>
          </a:xfrm>
          <a:prstGeom prst="rect">
            <a:avLst/>
          </a:prstGeom>
          <a:solidFill>
            <a:srgbClr val="425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883664"/>
            <a:ext cx="2532887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F384B"/>
                </a:solidFill>
                <a:latin typeface="Arial"/>
              </a:rPr>
              <a:t>1. AURA PROTOTYPE — index.html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2514600" cy="850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35" b="0" i="0">
                <a:solidFill>
                  <a:srgbClr val="2D2D2D"/>
                </a:solidFill>
                <a:latin typeface="Arial"/>
              </a:rPr>
              <a:t>Used for the implemented workflow, UI terminology and benchmark numbers. It exposes Overview, 3D Constellation, Parity Arena and What‑If/Lab views — so each reference here maps to a real product screen.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43300" y="1796795"/>
            <a:ext cx="2788920" cy="1344168"/>
          </a:xfrm>
          <a:prstGeom prst="roundRect">
            <a:avLst/>
          </a:prstGeom>
          <a:solidFill>
            <a:srgbClr val="E0E4E8"/>
          </a:solidFill>
          <a:ln w="1016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520440" y="1764792"/>
            <a:ext cx="2788920" cy="1344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20440" y="1764792"/>
            <a:ext cx="64008" cy="1344168"/>
          </a:xfrm>
          <a:prstGeom prst="rect">
            <a:avLst/>
          </a:prstGeom>
          <a:solidFill>
            <a:srgbClr val="279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85032" y="1883664"/>
            <a:ext cx="2532887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F384B"/>
                </a:solidFill>
                <a:latin typeface="Arial"/>
              </a:rPr>
              <a:t>2. UCI STUDENT PERFORMANCE —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2194560"/>
            <a:ext cx="2514600" cy="850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35" b="0" i="0">
                <a:solidFill>
                  <a:srgbClr val="2D2D2D"/>
                </a:solidFill>
                <a:latin typeface="Arial"/>
              </a:rPr>
              <a:t>Primary research/data reference. UCI documents 649 students and 30 features from two Portuguese schools. AURA uses the student/academic fields needed for support prioritization; G3 is treated as the outcome, not a live input.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6812" y="1796795"/>
            <a:ext cx="2788920" cy="1344168"/>
          </a:xfrm>
          <a:prstGeom prst="roundRect">
            <a:avLst/>
          </a:prstGeom>
          <a:solidFill>
            <a:srgbClr val="E0E4E8"/>
          </a:solidFill>
          <a:ln w="1016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73952" y="1764792"/>
            <a:ext cx="2788920" cy="1344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73952" y="1764792"/>
            <a:ext cx="64008" cy="1344168"/>
          </a:xfrm>
          <a:prstGeom prst="rect">
            <a:avLst/>
          </a:prstGeom>
          <a:solidFill>
            <a:srgbClr val="22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38544" y="1883664"/>
            <a:ext cx="2532887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F384B"/>
                </a:solidFill>
                <a:latin typeface="Arial"/>
              </a:rPr>
              <a:t>3. COC SELF PDF — HACKATHON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544" y="2194560"/>
            <a:ext cx="2514600" cy="850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35" b="0" i="0">
                <a:solidFill>
                  <a:srgbClr val="2D2D2D"/>
                </a:solidFill>
                <a:latin typeface="Arial"/>
              </a:rPr>
              <a:t>Used to align the slide with the competition framing and submission expectations. It is the project brief/reference layer; the prototype and UCI dataset supply the actual technical evidence shown here.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0888" y="181051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00" b="1" i="0">
                <a:solidFill>
                  <a:srgbClr val="22A4BE"/>
                </a:solidFill>
                <a:latin typeface="Arial"/>
              </a:rPr>
              <a:t>UCI SOURCE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5168" y="2057400"/>
            <a:ext cx="1901952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10" b="0" i="0">
                <a:solidFill>
                  <a:srgbClr val="576069"/>
                </a:solidFill>
                <a:latin typeface="Arial"/>
              </a:rPr>
              <a:t>archive.ics.uci.edu/dataset/320/student+performance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45168" y="2697480"/>
            <a:ext cx="1920240" cy="320040"/>
          </a:xfrm>
          <a:prstGeom prst="roundRect">
            <a:avLst/>
          </a:prstGeom>
          <a:solidFill>
            <a:srgbClr val="F5F8FA"/>
          </a:solidFill>
          <a:ln w="10160">
            <a:solidFill>
              <a:srgbClr val="CB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27464" y="2770632"/>
            <a:ext cx="1755648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15" b="1" i="0">
                <a:solidFill>
                  <a:srgbClr val="1F384B"/>
                </a:solidFill>
                <a:latin typeface="Arial"/>
              </a:rPr>
              <a:t>Cortez, P. (2008) • DOI 10.24432/C5TG7T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3401568"/>
            <a:ext cx="69951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1F384B"/>
                </a:solidFill>
                <a:latin typeface="Arial"/>
              </a:rPr>
              <a:t>DATA FIELDS USED IN AURA  •  WHAT THEY ARE FOR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9788" y="3762756"/>
            <a:ext cx="4590288" cy="640080"/>
          </a:xfrm>
          <a:prstGeom prst="roundRect">
            <a:avLst/>
          </a:prstGeom>
          <a:solidFill>
            <a:srgbClr val="E0E4E8"/>
          </a:solidFill>
          <a:ln w="1016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66928" y="3730752"/>
            <a:ext cx="4590288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66928" y="3730752"/>
            <a:ext cx="64008" cy="640080"/>
          </a:xfrm>
          <a:prstGeom prst="rect">
            <a:avLst/>
          </a:prstGeom>
          <a:solidFill>
            <a:srgbClr val="425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3849624"/>
            <a:ext cx="433425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F384B"/>
                </a:solidFill>
                <a:latin typeface="Arial"/>
              </a:rPr>
              <a:t>ACADEMIC SIGNALS  →  PRIORITIZATION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160520"/>
            <a:ext cx="4315968" cy="146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35" b="0" i="0">
                <a:solidFill>
                  <a:srgbClr val="2D2D2D"/>
                </a:solidFill>
                <a:latin typeface="Arial"/>
              </a:rPr>
              <a:t>G1 + G2 track current performance and trajectory; failures add prior academic-risk context. Used to estimate support need and rank students.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99532" y="3762756"/>
            <a:ext cx="4590288" cy="640080"/>
          </a:xfrm>
          <a:prstGeom prst="roundRect">
            <a:avLst/>
          </a:prstGeom>
          <a:solidFill>
            <a:srgbClr val="E0E4E8"/>
          </a:solidFill>
          <a:ln w="1016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376672" y="3730752"/>
            <a:ext cx="4590288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376672" y="3730752"/>
            <a:ext cx="64008" cy="640080"/>
          </a:xfrm>
          <a:prstGeom prst="rect">
            <a:avLst/>
          </a:prstGeom>
          <a:solidFill>
            <a:srgbClr val="279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41264" y="3849624"/>
            <a:ext cx="433425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F384B"/>
                </a:solidFill>
                <a:latin typeface="Arial"/>
              </a:rPr>
              <a:t>CONTEXT SIGNALS  →  FAIRNESS &amp; INTERPRETATION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41264" y="4160520"/>
            <a:ext cx="4315968" cy="146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35" b="0" i="0">
                <a:solidFill>
                  <a:srgbClr val="2D2D2D"/>
                </a:solidFill>
                <a:latin typeface="Arial"/>
              </a:rPr>
              <a:t>School, sex and age identify cohorts for fairness audits and make a decision explainable without changing the allocation rule.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9788" y="4521708"/>
            <a:ext cx="4590288" cy="640080"/>
          </a:xfrm>
          <a:prstGeom prst="roundRect">
            <a:avLst/>
          </a:prstGeom>
          <a:solidFill>
            <a:srgbClr val="E0E4E8"/>
          </a:solidFill>
          <a:ln w="1016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566928" y="4489704"/>
            <a:ext cx="4590288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66928" y="4489704"/>
            <a:ext cx="64008" cy="640080"/>
          </a:xfrm>
          <a:prstGeom prst="rect">
            <a:avLst/>
          </a:prstGeom>
          <a:solidFill>
            <a:srgbClr val="22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" y="4608576"/>
            <a:ext cx="433425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F384B"/>
                </a:solidFill>
                <a:latin typeface="Arial"/>
              </a:rPr>
              <a:t>BEHAVIOUR / ACCESS  →  SUPPORT PLANNING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919472"/>
            <a:ext cx="4315968" cy="146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35" b="0" i="0">
                <a:solidFill>
                  <a:srgbClr val="2D2D2D"/>
                </a:solidFill>
                <a:latin typeface="Arial"/>
              </a:rPr>
              <a:t>Absences, study time and travel time describe practical barriers. Used to tailor the type of affirmative intervention, not to label students publicly.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99532" y="4521708"/>
            <a:ext cx="4590288" cy="640080"/>
          </a:xfrm>
          <a:prstGeom prst="roundRect">
            <a:avLst/>
          </a:prstGeom>
          <a:solidFill>
            <a:srgbClr val="E0E4E8"/>
          </a:solidFill>
          <a:ln w="1016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5376672" y="4489704"/>
            <a:ext cx="4590288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376672" y="4489704"/>
            <a:ext cx="64008" cy="640080"/>
          </a:xfrm>
          <a:prstGeom prst="rect">
            <a:avLst/>
          </a:prstGeom>
          <a:solidFill>
            <a:srgbClr val="E6A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541264" y="4608576"/>
            <a:ext cx="4334255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F384B"/>
                </a:solidFill>
                <a:latin typeface="Arial"/>
              </a:rPr>
              <a:t>G3  →  OUTCOME / EVALUATION ONLY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41264" y="4919472"/>
            <a:ext cx="4315968" cy="1463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35" b="0" i="0">
                <a:solidFill>
                  <a:srgbClr val="2D2D2D"/>
                </a:solidFill>
                <a:latin typeface="Arial"/>
              </a:rPr>
              <a:t>Final grade (G3) is the prediction/evaluation target. It is withheld from blind evaluation inputs so the model is judged without target leakage.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704" y="5404104"/>
            <a:ext cx="9464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19" b="1" i="0">
                <a:solidFill>
                  <a:srgbClr val="1F384B"/>
                </a:solidFill>
                <a:latin typeface="Arial"/>
              </a:rPr>
              <a:t>REFERENCE NOTE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5687568"/>
            <a:ext cx="108356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55" b="0" i="0">
                <a:solidFill>
                  <a:srgbClr val="576069"/>
                </a:solidFill>
                <a:latin typeface="Arial"/>
              </a:rPr>
              <a:t>UCI describes G1 and G2 as 1st/2nd-period grades and G3 as the final grade; its feature list also includes school, sex, age, studytime, failures and absences. AURA’s prototype turns these fields into a transparent support-prioritization workflow, while its blind evaluator strips G3 before scoring.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" y="6419088"/>
            <a:ext cx="4572000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80" b="1" i="0">
                <a:solidFill>
                  <a:srgbClr val="606972"/>
                </a:solidFill>
                <a:latin typeface="Arial"/>
              </a:rPr>
              <a:t>TECHFINITY 1.0  •  AURA / RESEARCH &amp; REFERENCES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70848" y="6419088"/>
            <a:ext cx="2240280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580" b="1" i="0">
                <a:solidFill>
                  <a:srgbClr val="606972"/>
                </a:solidFill>
                <a:latin typeface="Arial"/>
              </a:rPr>
              <a:t>UCI DATASET 320  •  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1802</Words>
  <Application>Microsoft Office PowerPoint</Application>
  <PresentationFormat>Widescreen</PresentationFormat>
  <Paragraphs>201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Georgia</vt:lpstr>
      <vt:lpstr>Play</vt:lpstr>
      <vt:lpstr>Arial Black</vt:lpstr>
      <vt:lpstr>Garamond</vt:lpstr>
      <vt:lpstr>Times New Roman</vt:lpstr>
      <vt:lpstr>Aptos</vt:lpstr>
      <vt:lpstr>Aptos Display</vt:lpstr>
      <vt:lpstr>Arial</vt:lpstr>
      <vt:lpstr>Office Theme</vt:lpstr>
      <vt:lpstr>CLASH OF CODERS 3.0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AURA // ED-01 — Fair Student-Support Prioritization</dc:title>
  <dc:subject>Clash of Coders 3.0 Hackathon 2026 — Judge Presentation</dc:subject>
  <dc:creator>Team AURA</dc:creator>
  <cp:keywords>ED-01, Responsible AI, Explainable AI, fairness, student support, AURA</cp:keywords>
  <cp:lastModifiedBy>Krish vijay</cp:lastModifiedBy>
  <cp:revision>1</cp:revision>
  <dcterms:created xsi:type="dcterms:W3CDTF">2026-09-11T12:00:45Z</dcterms:created>
  <dcterms:modified xsi:type="dcterms:W3CDTF">2026-09-12T10:50:55Z</dcterms:modified>
</cp:coreProperties>
</file>