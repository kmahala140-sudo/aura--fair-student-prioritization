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AD84B6-A36B-B0F8-4D34-9E847887B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D3A976F-A905-7BA3-B7ED-1E8D57BB2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2ADF38-D458-E2F8-0E03-757B905D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5D8017-FB1C-03B2-0DE4-8E51483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90D24D-377C-F5EB-1127-46958C04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76459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FC55BC-F864-3E40-02E8-FAA3A987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0AB80F-DD64-379A-C78B-CA1203A45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B5757A-C333-2ED2-C9A7-2DD717AC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FC79B98-0306-975D-892A-274F3297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F67AA4-902E-E7F5-21BA-FB94FA55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4720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88A79F-9169-E1A5-22F4-AC3CD94C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B5498A-4000-2844-E24F-5D566424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D640BB-12E4-4BA8-1F7F-5608D829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AA4125-D5F5-2CD8-B677-3735E369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E122AA-3932-39CB-1C3E-79BC3605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74876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B5644D-0437-7141-0A51-471BEB39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67346B-6142-D6C1-1115-8E26FF336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1B5DE0F-7C8B-84CA-9CF9-1576B2EEB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E80271-5472-C396-C5C1-E633447B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02D582E-5AC6-CBFF-0047-7926C5ED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B60446B-348C-CB2F-EDDC-8CD5A4F6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56110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D96F4-FFA3-C5F2-B693-3C3099C7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2E55F1A-7011-1C2C-E295-56974EB3D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07B37F7-DA45-7130-E600-F49EF10D0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C833334-48D2-DBA7-57CF-5CC114D68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3708F70-47E9-2503-B9FA-31F997AD8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89A62E6-1A56-AD29-81EB-7756F353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4B7876D-4C95-6502-40E2-B9F5FA53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4935328-01B2-AA19-A12E-9C75ECCD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13540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DF6BCC-8F5C-9D99-608A-54353CEF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2F6DDED-B8C7-06C0-4073-3E640D62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37DB3A3-0525-5B06-AB8A-E70803A7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EA9702-8583-1B27-FDE0-F6219BDC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53792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C1E228A-3947-7C17-B706-CFC8E923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1C45AB2-FB3A-6AF1-6664-C56D6472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06C360-0687-53B4-A73A-C66B389D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49025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2FCA56-97A5-5A36-E1FA-10299880B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98358B-88CA-3FB8-4018-0C8818148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4D2569A-3841-0875-7439-56498D2F8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9325A0-FE2C-83C3-EDD4-43927655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0DC6B8-B2F1-E451-E1AF-7FBFB516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9BE90A6-CD29-CE3E-A93C-D3F9D69F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96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400AC2-7C9F-2019-EC2E-7B9FC492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11CCED7-6066-AC3A-CEE9-83DF9EA03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F685F0A-6FF1-31DF-9AA5-0B9A09B03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D385447-AFCD-A7BC-F71E-3EBEB594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8697E1E-989D-E7AE-EC93-9F7BE4A6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3F147C-9605-5F34-C3FB-AB017FCE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02482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F8219F-0523-23A4-FF68-11ACA47C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E04191A-D0EC-6DA2-714C-4CACA2005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C228E8-56C1-FA50-BB6B-D616725F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37360C-EFA8-B739-97FD-A7BAC5DA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546856-AE2C-3605-5DD4-F4F309BD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64016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15BC0D5-C01C-F182-9730-A2C4B2398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61261A4-679F-0E31-6969-E30D881A1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436EEB-7A71-E598-CF3F-D9F4A756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8F8A18-A39D-CD05-5DA7-0E33E808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D925BD-90DA-48B0-2241-2A8EC80F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51575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BBEEDAE-2B35-4D50-C386-4C81DD79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63CF1D-DD4D-436E-60D1-A91043F6E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4585E1-CDE3-4A72-2746-DED16A5A4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840E-8BD9-431F-997C-72D4F1B8B594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58BC86-941E-2426-8975-0C4BEE4CD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B92D90-AF0E-CE74-4AB4-28CCE111E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98EFD-9A23-4C4F-B780-10C723BC3D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5438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A373E7E-1C68-DB8C-7F92-768F97019C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xmlns="" id="{CCC19093-48C7-BE64-B531-D9E871640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0150" y="-213936"/>
            <a:ext cx="9051700" cy="1813668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CLASH OF CODERS 3.0 HACKATHON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AA21C6A-7F24-97CD-2C58-EC938917A516}"/>
              </a:ext>
            </a:extLst>
          </p:cNvPr>
          <p:cNvSpPr txBox="1"/>
          <p:nvPr/>
        </p:nvSpPr>
        <p:spPr>
          <a:xfrm>
            <a:off x="367604" y="1813668"/>
            <a:ext cx="11103036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r>
              <a:rPr sz="2000" b="1">
                <a:solidFill>
                  <a:srgbClr val="0F0F0F"/>
                </a:solidFill>
                <a:latin typeface="Arial"/>
              </a:rPr>
              <a:t>Problem Statement Title </a:t>
            </a:r>
            <a:r>
              <a:rPr sz="1450">
                <a:solidFill>
                  <a:srgbClr val="0F0F0F"/>
                </a:solidFill>
                <a:latin typeface="Arial"/>
              </a:rPr>
              <a:t>- </a:t>
            </a:r>
            <a:r>
              <a:rPr sz="2000">
                <a:solidFill>
                  <a:srgbClr val="0F0F0F"/>
                </a:solidFill>
                <a:latin typeface="Arial"/>
              </a:rPr>
              <a:t>A school can support only 20% of students. Build a fair ranking system that identifies students most in need of support while ensuring equitable recall across student groups.</a:t>
            </a:r>
          </a:p>
          <a:p>
            <a:endParaRPr/>
          </a:p>
          <a:p>
            <a:r>
              <a:rPr sz="2000" b="1">
                <a:solidFill>
                  <a:srgbClr val="0F0F0F"/>
                </a:solidFill>
                <a:latin typeface="Arial"/>
              </a:rPr>
              <a:t>Theme</a:t>
            </a:r>
            <a:r>
              <a:rPr sz="2000">
                <a:solidFill>
                  <a:srgbClr val="0F0F0F"/>
                </a:solidFill>
                <a:latin typeface="Arial"/>
              </a:rPr>
              <a:t> </a:t>
            </a:r>
            <a:r>
              <a:rPr sz="1450">
                <a:solidFill>
                  <a:srgbClr val="0F0F0F"/>
                </a:solidFill>
                <a:latin typeface="Arial"/>
              </a:rPr>
              <a:t>- </a:t>
            </a:r>
            <a:r>
              <a:rPr sz="2000">
                <a:solidFill>
                  <a:srgbClr val="0F0F0F"/>
                </a:solidFill>
                <a:latin typeface="Arial"/>
              </a:rPr>
              <a:t>Responsible &amp; Explainable AI (XAI) in </a:t>
            </a:r>
            <a:r>
              <a:rPr sz="2000" smtClean="0">
                <a:solidFill>
                  <a:srgbClr val="0F0F0F"/>
                </a:solidFill>
                <a:latin typeface="Arial"/>
              </a:rPr>
              <a:t>Education</a:t>
            </a:r>
            <a:endParaRPr lang="en-US" sz="2000" dirty="0" smtClean="0">
              <a:solidFill>
                <a:srgbClr val="0F0F0F"/>
              </a:solidFill>
              <a:latin typeface="Arial"/>
            </a:endParaRPr>
          </a:p>
          <a:p>
            <a:endParaRPr sz="1450">
              <a:solidFill>
                <a:srgbClr val="0F0F0F"/>
              </a:solidFill>
              <a:latin typeface="Arial"/>
            </a:endParaRPr>
          </a:p>
          <a:p>
            <a:r>
              <a:rPr sz="2000" b="1">
                <a:solidFill>
                  <a:srgbClr val="0F0F0F"/>
                </a:solidFill>
                <a:latin typeface="Arial"/>
              </a:rPr>
              <a:t>Team Name </a:t>
            </a:r>
            <a:r>
              <a:rPr sz="1450">
                <a:solidFill>
                  <a:srgbClr val="0F0F0F"/>
                </a:solidFill>
                <a:latin typeface="Arial"/>
              </a:rPr>
              <a:t>– </a:t>
            </a:r>
            <a:r>
              <a:rPr sz="2000">
                <a:solidFill>
                  <a:srgbClr val="0F0F0F"/>
                </a:solidFill>
                <a:latin typeface="Arial"/>
              </a:rPr>
              <a:t>Techfinity 1.0</a:t>
            </a:r>
            <a:endParaRPr sz="1450">
              <a:solidFill>
                <a:srgbClr val="0F0F0F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774D1C1-451D-B6B6-501C-A97B8121CABC}"/>
              </a:ext>
            </a:extLst>
          </p:cNvPr>
          <p:cNvSpPr txBox="1"/>
          <p:nvPr/>
        </p:nvSpPr>
        <p:spPr>
          <a:xfrm>
            <a:off x="367604" y="522621"/>
            <a:ext cx="2212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</p:spTree>
    <p:extLst>
      <p:ext uri="{BB962C8B-B14F-4D97-AF65-F5344CB8AC3E}">
        <p14:creationId xmlns:p14="http://schemas.microsoft.com/office/powerpoint/2010/main" xmlns="" val="154960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00FCA1-4E09-8FC6-B4B4-30EFCB1D77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521207"/>
            <a:ext cx="2212848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7931"/>
            <a:ext cx="854964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700" b="1">
                <a:solidFill>
                  <a:srgbClr val="0F0F0F"/>
                </a:solidFill>
                <a:latin typeface="Times New Roman"/>
              </a:rPr>
              <a:t>AURA — FROM STUDENT DATA TO FAIR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914400"/>
            <a:ext cx="8275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19" b="0">
                <a:solidFill>
                  <a:srgbClr val="5F6976"/>
                </a:solidFill>
                <a:latin typeface="Arial"/>
              </a:rPr>
              <a:t>One transparent pipeline: predict need → use the limited support budget → audit whether the ranking is fair.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32588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" y="1325880"/>
            <a:ext cx="54864" cy="2331720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472184"/>
            <a:ext cx="347472" cy="347472"/>
          </a:xfrm>
          <a:prstGeom prst="ellipse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545336"/>
            <a:ext cx="347472" cy="109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444752"/>
            <a:ext cx="1938528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10" b="1">
                <a:solidFill>
                  <a:srgbClr val="102D4B"/>
                </a:solidFill>
                <a:latin typeface="Arial"/>
              </a:rPr>
              <a:t>STUDENT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" y="1856231"/>
            <a:ext cx="23591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Input snapshot for each student.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2286000"/>
            <a:ext cx="5029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199BAF"/>
                </a:solidFill>
                <a:latin typeface="Arial"/>
              </a:rPr>
              <a:t>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2478024"/>
            <a:ext cx="2359152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0F0F0F"/>
                </a:solidFill>
                <a:latin typeface="Arial"/>
              </a:rPr>
              <a:t>G1 + G2 grades • absences • failures
School + sex for cohort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3044952"/>
            <a:ext cx="7315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199BAF"/>
                </a:solidFill>
                <a:latin typeface="Arial"/>
              </a:rPr>
              <a:t>WHY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3218688"/>
            <a:ext cx="2359152" cy="3749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10" b="0">
                <a:solidFill>
                  <a:srgbClr val="5F6976"/>
                </a:solidFill>
                <a:latin typeface="Arial"/>
              </a:rPr>
              <a:t>These are the permitted signals used to estimate support need; G3 is the target, not an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132588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9272" y="1325880"/>
            <a:ext cx="54864" cy="2331720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74720" y="1472184"/>
            <a:ext cx="347472" cy="347472"/>
          </a:xfrm>
          <a:prstGeom prst="ellipse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545336"/>
            <a:ext cx="347472" cy="109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1444752"/>
            <a:ext cx="1938528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10" b="1">
                <a:solidFill>
                  <a:srgbClr val="102D4B"/>
                </a:solidFill>
                <a:latin typeface="Arial"/>
              </a:rPr>
              <a:t>RISK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1856231"/>
            <a:ext cx="23591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Convert the student profile into a support-needed probability.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2286000"/>
            <a:ext cx="5029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1E9B5F"/>
                </a:solidFill>
                <a:latin typeface="Arial"/>
              </a:rPr>
              <a:t>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2478024"/>
            <a:ext cx="2359152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0F0F0F"/>
                </a:solidFill>
                <a:latin typeface="Arial"/>
              </a:rPr>
              <a:t>Model outputs p(support needed)
Calibration tracked with Brier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3044952"/>
            <a:ext cx="7315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1E9B5F"/>
                </a:solidFill>
                <a:latin typeface="Arial"/>
              </a:rPr>
              <a:t>WHY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218688"/>
            <a:ext cx="2359152" cy="3749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10" b="0">
                <a:solidFill>
                  <a:srgbClr val="5F6976"/>
                </a:solidFill>
                <a:latin typeface="Arial"/>
              </a:rPr>
              <a:t>A probability is more informative than a yes/no label: it lets us rank students under a fixed budget.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132588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1325880"/>
            <a:ext cx="54864" cy="2331720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64224" y="1472184"/>
            <a:ext cx="347472" cy="347472"/>
          </a:xfrm>
          <a:prstGeom prst="ellipse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4224" y="1545336"/>
            <a:ext cx="347472" cy="109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1444752"/>
            <a:ext cx="1938528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10" b="1">
                <a:solidFill>
                  <a:srgbClr val="102D4B"/>
                </a:solidFill>
                <a:latin typeface="Arial"/>
              </a:rPr>
              <a:t>PRIORITY 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56231"/>
            <a:ext cx="23591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Sort students by predicted need and select exactly the top 20%.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286000"/>
            <a:ext cx="5029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6450D2"/>
                </a:solidFill>
                <a:latin typeface="Arial"/>
              </a:rPr>
              <a:t>USES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2478024"/>
            <a:ext cx="2359152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0F0F0F"/>
                </a:solidFill>
                <a:latin typeface="Arial"/>
              </a:rPr>
              <a:t>1 → N ranking by probability
Top ⌈0.20 × N⌉ become the support cohort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3044952"/>
            <a:ext cx="7315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6450D2"/>
                </a:solidFill>
                <a:latin typeface="Arial"/>
              </a:rPr>
              <a:t>WHY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3218688"/>
            <a:ext cx="2359152" cy="3749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10" b="0">
                <a:solidFill>
                  <a:srgbClr val="5F6976"/>
                </a:solidFill>
                <a:latin typeface="Arial"/>
              </a:rPr>
              <a:t>The school has limited capacity, so the model must turn probabilities into a concrete, auditable allocation.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132588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98280" y="1325880"/>
            <a:ext cx="54864" cy="2331720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253728" y="1472184"/>
            <a:ext cx="347472" cy="347472"/>
          </a:xfrm>
          <a:prstGeom prst="ellipse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53728" y="1545336"/>
            <a:ext cx="347472" cy="109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1444752"/>
            <a:ext cx="1938528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10" b="1">
                <a:solidFill>
                  <a:srgbClr val="102D4B"/>
                </a:solidFill>
                <a:latin typeface="Arial"/>
              </a:rPr>
              <a:t>FAIRNESS 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1856231"/>
            <a:ext cx="23591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Check whether support-needed recall is balanced across eligible groups.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286000"/>
            <a:ext cx="5029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DC910A"/>
                </a:solidFill>
                <a:latin typeface="Arial"/>
              </a:rPr>
              <a:t>USES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478024"/>
            <a:ext cx="2359152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0F0F0F"/>
                </a:solidFill>
                <a:latin typeface="Arial"/>
              </a:rPr>
              <a:t>Rₘᵢₙ = worst-group recall
Fairness gap = largest recall difference
Utility + calibration reported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044952"/>
            <a:ext cx="7315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1">
                <a:solidFill>
                  <a:srgbClr val="DC910A"/>
                </a:solidFill>
                <a:latin typeface="Arial"/>
              </a:rPr>
              <a:t>WHY HERE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218688"/>
            <a:ext cx="2359152" cy="3749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10" b="0">
                <a:solidFill>
                  <a:srgbClr val="5F6976"/>
                </a:solidFill>
                <a:latin typeface="Arial"/>
              </a:rPr>
              <a:t>This is the safety check after ranking: a strong overall score is not enough if one eligible group is consistently missed.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3904487"/>
            <a:ext cx="6217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102D4B"/>
                </a:solidFill>
                <a:latin typeface="Arial"/>
              </a:rPr>
              <a:t>HOW THE PROTOTYPE MAKES THE DECISION EXPLAINABLE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78808"/>
            <a:ext cx="108813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These three views are not separate models — they explain, stress-test and inspect the same ranked list.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526280"/>
            <a:ext cx="3602736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4526280"/>
            <a:ext cx="54864" cy="1069848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8096" y="4681728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40" b="1">
                <a:solidFill>
                  <a:srgbClr val="199BAF"/>
                </a:solidFill>
                <a:latin typeface="Arial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4672584"/>
            <a:ext cx="27797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3D COHORT EXPLORER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956048"/>
            <a:ext cx="281635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80" b="0">
                <a:solidFill>
                  <a:srgbClr val="0F0F0F"/>
                </a:solidFill>
                <a:latin typeface="Arial"/>
              </a:rPr>
              <a:t>Plots G1 vs G2 with support probability as the 3rd dimension; filters distress, passing students and cohorts.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5376672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20" b="1">
                <a:solidFill>
                  <a:srgbClr val="199BAF"/>
                </a:solidFill>
                <a:latin typeface="Arial"/>
              </a:rPr>
              <a:t>WHY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" y="5340096"/>
            <a:ext cx="27889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35" b="0">
                <a:solidFill>
                  <a:srgbClr val="5F6976"/>
                </a:solidFill>
                <a:latin typeface="Arial"/>
              </a:rPr>
              <a:t>Lets a teacher inspect *why* a student appears high-risk and see the academic trajectory behind the score.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0831" y="4526280"/>
            <a:ext cx="3602736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70831" y="4526280"/>
            <a:ext cx="54864" cy="1069848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90288" y="4681728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40" b="1">
                <a:solidFill>
                  <a:srgbClr val="1E9B5F"/>
                </a:solidFill>
                <a:latin typeface="Arial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59" y="4672584"/>
            <a:ext cx="27797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PARITY ARENA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59" y="4956048"/>
            <a:ext cx="281635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80" b="0">
                <a:solidFill>
                  <a:srgbClr val="0F0F0F"/>
                </a:solidFill>
                <a:latin typeface="Arial"/>
              </a:rPr>
              <a:t>Shows recall for eligible cohorts and compares the proposed prioritizer against greedy and random baselines.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288" y="5376672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20" b="1">
                <a:solidFill>
                  <a:srgbClr val="1E9B5F"/>
                </a:solidFill>
                <a:latin typeface="Arial"/>
              </a:rPr>
              <a:t>WHY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59" y="5340096"/>
            <a:ext cx="27889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35" b="0">
                <a:solidFill>
                  <a:srgbClr val="5F6976"/>
                </a:solidFill>
                <a:latin typeface="Arial"/>
              </a:rPr>
              <a:t>Makes fairness measurable instead of claiming it; the same ranking can be compared on recall and gap.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93023" y="4526280"/>
            <a:ext cx="3602736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93023" y="4526280"/>
            <a:ext cx="54864" cy="1069848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12480" y="4681728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40" b="1">
                <a:solidFill>
                  <a:srgbClr val="DC910A"/>
                </a:solidFill>
                <a:latin typeface="Arial"/>
              </a:rPr>
              <a:t>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59951" y="4672584"/>
            <a:ext cx="27797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WHAT-IF + BOUNDARY TEST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9951" y="4956048"/>
            <a:ext cx="2816352" cy="338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80" b="0">
                <a:solidFill>
                  <a:srgbClr val="0F0F0F"/>
                </a:solidFill>
                <a:latin typeface="Arial"/>
              </a:rPr>
              <a:t>Simulates support changes and inspects students near the cut-off (e.g., rank #78 vs #80).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376672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20" b="1">
                <a:solidFill>
                  <a:srgbClr val="DC910A"/>
                </a:solidFill>
                <a:latin typeface="Arial"/>
              </a:rPr>
              <a:t>WHY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59951" y="5340096"/>
            <a:ext cx="27889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35" b="0">
                <a:solidFill>
                  <a:srgbClr val="5F6976"/>
                </a:solidFill>
                <a:latin typeface="Arial"/>
              </a:rPr>
              <a:t>Tests sensitivity: would a small intervention change risk, and is the 20% boundary defensible?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797296"/>
            <a:ext cx="11082528" cy="41148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907024"/>
            <a:ext cx="108356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15" b="1">
                <a:solidFill>
                  <a:srgbClr val="102D4B"/>
                </a:solidFill>
                <a:latin typeface="Arial"/>
              </a:rPr>
              <a:t>CORE PRINCIPLE  •  Predict transparently. Allocate exactly 20%. Audit group-level recall. Then inspect the borderline cases before acting.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31168" y="6437376"/>
            <a:ext cx="25603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800" b="0">
                <a:solidFill>
                  <a:srgbClr val="5F6976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xmlns="" val="270744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D80B473-CE3C-318F-7C98-C61B4563B8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9331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521207"/>
            <a:ext cx="2212848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"/>
            <a:ext cx="854964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700" b="1">
                <a:solidFill>
                  <a:srgbClr val="0F0F0F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914400"/>
            <a:ext cx="5897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10" b="1">
                <a:solidFill>
                  <a:srgbClr val="5F6976"/>
                </a:solidFill>
                <a:latin typeface="Arial"/>
              </a:rPr>
              <a:t>CURRENT IMPLEMENTATION: BROWSER-BASED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504" y="1663192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4081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5" b="1">
                <a:solidFill>
                  <a:srgbClr val="102D4B"/>
                </a:solidFill>
                <a:latin typeface="Arial"/>
              </a:rPr>
              <a:t>1  INPUT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0784"/>
            <a:ext cx="196596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G1 + G2
absences + failures
school + sex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67712"/>
            <a:ext cx="64008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199BAF"/>
                </a:solidFill>
                <a:latin typeface="Arial"/>
              </a:rPr>
              <a:t>WHY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440" y="2387600"/>
            <a:ext cx="1842007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0">
                <a:solidFill>
                  <a:srgbClr val="5F6976"/>
                </a:solidFill>
                <a:latin typeface="Arial"/>
              </a:rPr>
              <a:t>These are the permitted signals used for support-risk scoring and group fairness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2344" y="1612392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98648" y="14081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5" b="1">
                <a:solidFill>
                  <a:srgbClr val="102D4B"/>
                </a:solidFill>
                <a:latin typeface="Arial"/>
              </a:rPr>
              <a:t>2 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1700784"/>
            <a:ext cx="196596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support-needed
probability per 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288032"/>
            <a:ext cx="64008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1E9B5F"/>
                </a:solidFill>
                <a:latin typeface="Arial"/>
              </a:rPr>
              <a:t>WHY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452624"/>
            <a:ext cx="1874519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695" b="0">
                <a:solidFill>
                  <a:srgbClr val="5F6976"/>
                </a:solidFill>
                <a:latin typeface="Arial"/>
              </a:rPr>
              <a:t>A continuous probability lets the system rank students instead of forcing an early yes/no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1612392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0368" y="14081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5" b="1">
                <a:solidFill>
                  <a:srgbClr val="102D4B"/>
                </a:solidFill>
                <a:latin typeface="Arial"/>
              </a:rPr>
              <a:t>3 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1700784"/>
            <a:ext cx="196596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sort by probability
→ exact ⌈0.20 × N⌉
79 of 395 in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279904"/>
            <a:ext cx="64008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6450D2"/>
                </a:solidFill>
                <a:latin typeface="Arial"/>
              </a:rPr>
              <a:t>WHY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432304"/>
            <a:ext cx="1874519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695" b="0">
                <a:solidFill>
                  <a:srgbClr val="5F6976"/>
                </a:solidFill>
                <a:latin typeface="Arial"/>
              </a:rPr>
              <a:t>The 20% capacity is fixed, so the ranked scores must become an exact, auditable support cohort.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1879" y="1612392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62088" y="14081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5" b="1">
                <a:solidFill>
                  <a:srgbClr val="102D4B"/>
                </a:solidFill>
                <a:latin typeface="Arial"/>
              </a:rPr>
              <a:t>4 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1700784"/>
            <a:ext cx="196596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recall • Rₘᵢₙ
fairness gap • 1−Brier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2267712"/>
            <a:ext cx="64008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DC910A"/>
                </a:solidFill>
                <a:latin typeface="Arial"/>
              </a:rPr>
              <a:t>WHY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432304"/>
            <a:ext cx="1874519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695" b="0">
                <a:solidFill>
                  <a:srgbClr val="5F6976"/>
                </a:solidFill>
                <a:latin typeface="Arial"/>
              </a:rPr>
              <a:t>A strong ranking is not enough; this step checks worst-group recall, parity and calibration.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47504" y="1602232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93808" y="1408176"/>
            <a:ext cx="197510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55" b="1">
                <a:solidFill>
                  <a:srgbClr val="102D4B"/>
                </a:solidFill>
                <a:latin typeface="Arial"/>
              </a:rPr>
              <a:t>5  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1700784"/>
            <a:ext cx="196596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3D cohort view
what-if + boundary test
CSV evaluator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267712"/>
            <a:ext cx="64008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199BAF"/>
                </a:solidFill>
                <a:latin typeface="Arial"/>
              </a:rPr>
              <a:t>WHY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2432304"/>
            <a:ext cx="1874519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695" b="0">
                <a:solidFill>
                  <a:srgbClr val="5F6976"/>
                </a:solidFill>
                <a:latin typeface="Arial"/>
              </a:rPr>
              <a:t>These tools let a reviewer inspect the score, test sensitivity and verify the same ranking independently.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324370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0" b="1">
                <a:solidFill>
                  <a:srgbClr val="102D4B"/>
                </a:solidFill>
                <a:latin typeface="Arial"/>
              </a:rPr>
              <a:t>PROTOTYPE STACK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565057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5216" y="3601430"/>
            <a:ext cx="841248" cy="118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HTML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72768" y="3565057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09344" y="3620108"/>
            <a:ext cx="841248" cy="118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CSS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96896" y="3565057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33472" y="3610777"/>
            <a:ext cx="841248" cy="118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JavaScript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971" y="3978965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5216" y="4002833"/>
            <a:ext cx="814376" cy="1477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Three.js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72768" y="3960306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09344" y="3987363"/>
            <a:ext cx="841248" cy="118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Chart.js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96896" y="3941644"/>
            <a:ext cx="914400" cy="2286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33472" y="3996694"/>
            <a:ext cx="841248" cy="118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720" b="1">
                <a:solidFill>
                  <a:srgbClr val="102D4B"/>
                </a:solidFill>
                <a:latin typeface="Arial"/>
              </a:rPr>
              <a:t>JSON / CSV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83432" y="3302000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39896" y="3118103"/>
            <a:ext cx="23225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60" b="1">
                <a:solidFill>
                  <a:srgbClr val="102D4B"/>
                </a:solidFill>
                <a:latin typeface="Arial"/>
              </a:rPr>
              <a:t>PROBABILITY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39896" y="3410712"/>
            <a:ext cx="2313432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Displayed as the support-needed probability and used directly for ranking. Calibration is checked with Brier score.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5615" y="3877056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199BAF"/>
                </a:solidFill>
                <a:latin typeface="Arial"/>
              </a:rPr>
              <a:t>WHY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9663" y="3813048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10" b="0">
                <a:solidFill>
                  <a:srgbClr val="5F6976"/>
                </a:solidFill>
                <a:latin typeface="Arial"/>
              </a:rPr>
              <a:t>Continuous risk makes the top-20% selection reproducible and lets reviewers see model confidence.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5616" y="3322320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0" y="3118103"/>
            <a:ext cx="23225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60" b="1">
                <a:solidFill>
                  <a:srgbClr val="102D4B"/>
                </a:solidFill>
                <a:latin typeface="Arial"/>
              </a:rPr>
              <a:t>COUNTERFACTUAL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410712"/>
            <a:ext cx="2313432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Applies a logistic-odds shift when G2, study time or absences are hypothetically changed.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3877056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6450D2"/>
                </a:solidFill>
                <a:latin typeface="Arial"/>
              </a:rPr>
              <a:t>WHY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3813048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10" b="0">
                <a:solidFill>
                  <a:srgbClr val="5F6976"/>
                </a:solidFill>
                <a:latin typeface="Arial"/>
              </a:rPr>
              <a:t>Shows how an intervention could change projected risk without changing the stored student record.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05240" y="3342640"/>
            <a:ext cx="272491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061704" y="3118103"/>
            <a:ext cx="250545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60" b="1">
                <a:solidFill>
                  <a:srgbClr val="102D4B"/>
                </a:solidFill>
                <a:latin typeface="Arial"/>
              </a:rPr>
              <a:t>BLIND EVALUATOR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1704" y="3410712"/>
            <a:ext cx="2496312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Accepts CSV rows with G3 removed, computes exactly ⌈0.20 × N⌉ slots, and exposes the inference output CSV.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07424" y="3877056"/>
            <a:ext cx="320040" cy="1280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1">
                <a:solidFill>
                  <a:srgbClr val="DC910A"/>
                </a:solidFill>
                <a:latin typeface="Arial"/>
              </a:rPr>
              <a:t>WHY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3813048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00" b="0">
                <a:solidFill>
                  <a:srgbClr val="5F6976"/>
                </a:solidFill>
                <a:latin typeface="Arial"/>
              </a:rPr>
              <a:t>Tests the deployed inference path on unseen rows without allowing the target to leak into the decision.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9120" y="5447792"/>
            <a:ext cx="11082528" cy="457200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" y="5606288"/>
            <a:ext cx="10913872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1">
                <a:solidFill>
                  <a:srgbClr val="102D4B"/>
                </a:solidFill>
                <a:latin typeface="Arial"/>
              </a:rPr>
              <a:t>END-TO-END:  INPUT → SUPPORT PROBABILITY → EXACT 20% SELECTION → FAIRNESS / CALIBRATION AUDIT → HUMAN EXPLANATION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31168" y="6437376"/>
            <a:ext cx="25603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800" b="0">
                <a:solidFill>
                  <a:srgbClr val="5F6976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xmlns="" val="225457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6883E52-F6D2-02BE-931C-41DEA6A76D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521207"/>
            <a:ext cx="2212848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"/>
            <a:ext cx="854964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700" b="1">
                <a:solidFill>
                  <a:srgbClr val="0F0F0F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16736"/>
            <a:ext cx="34290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50292" cy="1115568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417320"/>
            <a:ext cx="320954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WORKING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09928"/>
            <a:ext cx="320040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 smtClean="0">
                <a:solidFill>
                  <a:srgbClr val="5F6976"/>
                </a:solidFill>
                <a:latin typeface="Arial"/>
              </a:rPr>
              <a:t>Four judge-facing views are already wired: overview, 3D constellation, parity arena and what-if/evaluation lab.</a:t>
            </a:r>
            <a:endParaRPr sz="900" b="0">
              <a:solidFill>
                <a:srgbClr val="5F6976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25112" y="1316736"/>
            <a:ext cx="34290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1316736"/>
            <a:ext cx="50292" cy="1115568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71416" y="1417320"/>
            <a:ext cx="320954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SOFTWARE-ONLY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709928"/>
            <a:ext cx="320040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Runs in a browser; no special hardware or deployment infrastructure is required for the demo.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316736"/>
            <a:ext cx="34290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1316736"/>
            <a:ext cx="50292" cy="1115568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17320"/>
            <a:ext cx="3209544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1">
                <a:solidFill>
                  <a:srgbClr val="102D4B"/>
                </a:solidFill>
                <a:latin typeface="Arial"/>
              </a:rPr>
              <a:t>EVALUATION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09928"/>
            <a:ext cx="320040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The UI exposes benchmark metrics and a CSV upload path for blind 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80" b="1">
                <a:solidFill>
                  <a:srgbClr val="102D4B"/>
                </a:solidFill>
                <a:latin typeface="Arial"/>
              </a:rPr>
              <a:t>RISKS &amp; MITIGATIONS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63520"/>
            <a:ext cx="5354320" cy="884936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879344"/>
            <a:ext cx="50292" cy="758952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2990088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10" b="1">
                <a:solidFill>
                  <a:srgbClr val="102D4B"/>
                </a:solidFill>
                <a:latin typeface="Arial"/>
              </a:rPr>
              <a:t>Data quality / 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282696"/>
            <a:ext cx="5001768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Keep student IDs opaque; evaluate on structured CSV input and inspect boundary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43200"/>
            <a:ext cx="5183632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44768" y="2869184"/>
            <a:ext cx="50292" cy="758952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2990088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10" b="1">
                <a:solidFill>
                  <a:srgbClr val="102D4B"/>
                </a:solidFill>
                <a:latin typeface="Arial"/>
              </a:rPr>
              <a:t>Fairness metric trade-offs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282696"/>
            <a:ext cx="5001768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Report group recall + Rmin + fairness gap together instead of optimizing one number 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85616"/>
            <a:ext cx="5364480" cy="97942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877056"/>
            <a:ext cx="50292" cy="758952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3886200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10" b="1">
                <a:solidFill>
                  <a:srgbClr val="102D4B"/>
                </a:solidFill>
                <a:latin typeface="Arial"/>
              </a:rPr>
              <a:t>Threshold sensitivity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4178808"/>
            <a:ext cx="500176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Keep the allocation rule explicit: exactly ceil(0.20 × N) support slots.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785616"/>
            <a:ext cx="5336032" cy="97942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44768" y="3897376"/>
            <a:ext cx="50292" cy="758952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3886200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10" b="1">
                <a:solidFill>
                  <a:srgbClr val="102D4B"/>
                </a:solidFill>
                <a:latin typeface="Arial"/>
              </a:rPr>
              <a:t>Privacy / misuse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4178808"/>
            <a:ext cx="5001768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Use support as affirmative, non-punitive intervention; the prototype notes that support is excluded from public records.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808" y="5031232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102D4B"/>
                </a:solidFill>
                <a:latin typeface="Arial"/>
              </a:rPr>
              <a:t>Feasibility claim: the prototype demonstrates the full decision → audit → explanation loop without requiring a new hardware stack.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55080"/>
            <a:ext cx="237744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20" b="0">
                <a:solidFill>
                  <a:srgbClr val="5F6976"/>
                </a:solidFill>
                <a:latin typeface="Arial"/>
              </a:rPr>
              <a:t>Techfinity 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31168" y="6437376"/>
            <a:ext cx="25603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800" b="0">
                <a:solidFill>
                  <a:srgbClr val="5F6976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xmlns="" val="246937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E6EF7B-08B0-635F-FE35-64DEF813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6B90016-CEA3-33AA-2EFC-82A34644F4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1" y="521207"/>
            <a:ext cx="2212848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99" y="228600"/>
            <a:ext cx="854964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700" b="1">
                <a:solidFill>
                  <a:srgbClr val="0F0F0F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59" y="91440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19" b="1">
                <a:solidFill>
                  <a:srgbClr val="5F6976"/>
                </a:solidFill>
                <a:latin typeface="Arial"/>
              </a:rPr>
              <a:t>BENCHMARK IMPACT — HOW THE DATA DRIVES AURA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" y="1261872"/>
            <a:ext cx="2743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7" y="1261872"/>
            <a:ext cx="50292" cy="932688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1" y="1362456"/>
            <a:ext cx="2523744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G1 + G2  |  ACADEMIC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1" y="1655063"/>
            <a:ext cx="25146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Recent exam scores → used as the strongest direct view of current performance and the change from Period 1 to Period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4" y="1261872"/>
            <a:ext cx="2743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8414" y="1261872"/>
            <a:ext cx="50292" cy="932688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19" y="1362456"/>
            <a:ext cx="2523744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FAILURES + ABSENCES +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19" y="1655063"/>
            <a:ext cx="25146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Persistence &amp; context → used to explain support need and tailor intervention scenarios, not simply rank students.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3" y="1261872"/>
            <a:ext cx="2743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7063" y="1261872"/>
            <a:ext cx="50292" cy="932688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7" y="1362456"/>
            <a:ext cx="2523744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SCHOOL + SEX +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7" y="1655063"/>
            <a:ext cx="25146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Cohort &amp; audit context → used for group views and parity checks so model quality is visible across groups.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1" y="1261872"/>
            <a:ext cx="2743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25711" y="1261872"/>
            <a:ext cx="50292" cy="932688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2015" y="1362456"/>
            <a:ext cx="2523744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G3  |  TARGET /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1655063"/>
            <a:ext cx="25146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Future outcome → used to measure recall/calibration after selection; stripped from blind test inputs to avoid leakage.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39" y="2404872"/>
            <a:ext cx="24871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79" y="2514600"/>
            <a:ext cx="230428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99BAF"/>
                </a:solidFill>
                <a:latin typeface="Arial"/>
              </a:rPr>
              <a:t>77.61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" y="2779776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102D4B"/>
                </a:solidFill>
                <a:latin typeface="Arial"/>
              </a:rPr>
              <a:t>AURA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2971800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5F6976"/>
                </a:solidFill>
                <a:latin typeface="Arial"/>
              </a:rPr>
              <a:t>overall utility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59" y="2404872"/>
            <a:ext cx="24871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8999" y="2514600"/>
            <a:ext cx="230428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E9B5F"/>
                </a:solidFill>
                <a:latin typeface="Arial"/>
              </a:rPr>
              <a:t>60.77%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8999" y="2779776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102D4B"/>
                </a:solidFill>
                <a:latin typeface="Arial"/>
              </a:rPr>
              <a:t>Top-20% 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8999" y="2971800"/>
            <a:ext cx="2304288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>
                <a:solidFill>
                  <a:srgbClr val="5F6976"/>
                </a:solidFill>
                <a:latin typeface="Arial"/>
              </a:rPr>
              <a:t>need captured in fixed budget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8" y="2404872"/>
            <a:ext cx="24871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18" y="2514600"/>
            <a:ext cx="230428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DC910A"/>
                </a:solidFill>
                <a:latin typeface="Arial"/>
              </a:rPr>
              <a:t>4.97%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18" y="2779776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102D4B"/>
                </a:solidFill>
                <a:latin typeface="Arial"/>
              </a:rPr>
              <a:t>Fairness</a:t>
            </a:r>
            <a:r>
              <a:rPr sz="800" b="1">
                <a:solidFill>
                  <a:srgbClr val="102D4B"/>
                </a:solidFill>
                <a:latin typeface="Arial"/>
              </a:rPr>
              <a:t>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18" y="2971800"/>
            <a:ext cx="2304288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>
                <a:solidFill>
                  <a:srgbClr val="5F6976"/>
                </a:solidFill>
                <a:latin typeface="Arial"/>
              </a:rPr>
              <a:t>group recall difference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398" y="2404872"/>
            <a:ext cx="24871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06838" y="2514600"/>
            <a:ext cx="230428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6450D2"/>
                </a:solidFill>
                <a:latin typeface="Arial"/>
              </a:rPr>
              <a:t>0.0374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38" y="2779776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102D4B"/>
                </a:solidFill>
                <a:latin typeface="Arial"/>
              </a:rPr>
              <a:t>Brier</a:t>
            </a:r>
            <a:r>
              <a:rPr sz="800" b="1">
                <a:solidFill>
                  <a:srgbClr val="102D4B"/>
                </a:solidFill>
                <a:latin typeface="Arial"/>
              </a:rPr>
              <a:t>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8" y="2971800"/>
            <a:ext cx="2304288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5F6976"/>
                </a:solidFill>
                <a:latin typeface="Arial"/>
              </a:rPr>
              <a:t>probability</a:t>
            </a:r>
            <a:r>
              <a:rPr sz="900" b="0">
                <a:solidFill>
                  <a:srgbClr val="5F6976"/>
                </a:solidFill>
                <a:latin typeface="Arial"/>
              </a:rPr>
              <a:t> calibration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" y="3502152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1">
                <a:solidFill>
                  <a:srgbClr val="102D4B"/>
                </a:solidFill>
                <a:latin typeface="Arial"/>
              </a:rPr>
              <a:t>WHY IT MATTERS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39" y="3776472"/>
            <a:ext cx="523036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39" y="3776472"/>
            <a:ext cx="50292" cy="731520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3" y="3877056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69" b="1">
                <a:solidFill>
                  <a:srgbClr val="102D4B"/>
                </a:solidFill>
                <a:latin typeface="Arial"/>
              </a:rPr>
              <a:t>FOR INSTITUTIONS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3" y="4169663"/>
            <a:ext cx="5001768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20% support capacity is enforced deterministically: 79 of 395 students are selected for support.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78" y="3776472"/>
            <a:ext cx="523036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26478" y="3776472"/>
            <a:ext cx="50292" cy="731520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72782" y="3877056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69" b="1">
                <a:solidFill>
                  <a:srgbClr val="102D4B"/>
                </a:solidFill>
                <a:latin typeface="Arial"/>
              </a:rPr>
              <a:t>FOR STUDENTS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2" y="4169663"/>
            <a:ext cx="5001768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G1→G2 trajectory + support probability makes the decision inspectable; support stays affirmative and non-punitive.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39" y="4626864"/>
            <a:ext cx="523036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39" y="4626864"/>
            <a:ext cx="50292" cy="731520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3" y="4727448"/>
            <a:ext cx="5010912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69" b="1">
                <a:solidFill>
                  <a:srgbClr val="102D4B"/>
                </a:solidFill>
                <a:latin typeface="Arial"/>
              </a:rPr>
              <a:t>FOR REVIEWERS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3" y="5020055"/>
            <a:ext cx="5001768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Recall, worst-group recall, fairness gap and calibration can be inspected together against model baselines.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78" y="4626864"/>
            <a:ext cx="523036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26478" y="4626864"/>
            <a:ext cx="50292" cy="731520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2" y="4727448"/>
            <a:ext cx="5010912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1">
                <a:solidFill>
                  <a:srgbClr val="102D4B"/>
                </a:solidFill>
                <a:latin typeface="Arial"/>
              </a:rPr>
              <a:t>FOR GOVERNANCE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2" y="5020055"/>
            <a:ext cx="5001768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School/sex groups are audited separately, while blind CSV testing removes G3 so evaluation reflects real prediction.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39" y="5532120"/>
            <a:ext cx="11082528" cy="393192"/>
          </a:xfrm>
          <a:prstGeom prst="roundRect">
            <a:avLst/>
          </a:prstGeom>
          <a:solidFill>
            <a:srgbClr val="F6F7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6655" y="5632704"/>
            <a:ext cx="1083564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1">
                <a:solidFill>
                  <a:srgbClr val="102D4B"/>
                </a:solidFill>
                <a:latin typeface="Arial"/>
              </a:rPr>
              <a:t>DATA FLOW: G1/G2 + context → support probability → rank top 20% → fairness audit → targeted support → evaluate with G3.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39" y="6126480"/>
            <a:ext cx="804672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690" b="0">
                <a:solidFill>
                  <a:srgbClr val="5F6976"/>
                </a:solidFill>
                <a:latin typeface="Arial"/>
              </a:rPr>
              <a:t>TECHFINITY 1.0  •  AURA / FAIR STUDENT-SUPPORT PRIORITIZATION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599" y="6126480"/>
            <a:ext cx="224028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690" b="0">
                <a:solidFill>
                  <a:srgbClr val="5F6976"/>
                </a:solidFill>
                <a:latin typeface="Arial"/>
              </a:rPr>
              <a:t>ED-01  •  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31167" y="6437376"/>
            <a:ext cx="25603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800" b="0">
                <a:solidFill>
                  <a:srgbClr val="5F6976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xmlns="" val="401942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226891-44A5-0195-6E70-591775AE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2059242-4337-EEFB-21CD-CB9351439F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521207"/>
            <a:ext cx="2212848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2D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"/>
            <a:ext cx="854964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700" b="1">
                <a:solidFill>
                  <a:srgbClr val="0F0F0F"/>
                </a:solidFill>
                <a:latin typeface="Times New Roman"/>
              </a:rPr>
              <a:t>RESEARCH  AND 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914400"/>
            <a:ext cx="7132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5F6976"/>
                </a:solidFill>
                <a:latin typeface="Arial"/>
              </a:rPr>
              <a:t>SOURCE MATERIAL USED TO BUILD AND VALIDATE AURA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292352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" y="1317858"/>
            <a:ext cx="50292" cy="1060704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62456"/>
            <a:ext cx="3236976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900" b="1" dirty="0" smtClean="0">
                <a:solidFill>
                  <a:srgbClr val="102D4B"/>
                </a:solidFill>
                <a:latin typeface="Arial"/>
              </a:rPr>
              <a:t>Resources link referred for extracting the data of students for a real time student analysis</a:t>
            </a:r>
            <a:endParaRPr sz="900" b="1">
              <a:solidFill>
                <a:srgbClr val="102D4B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" y="1655063"/>
            <a:ext cx="3227832" cy="521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endParaRPr lang="en-US" sz="1050" dirty="0" smtClean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endParaRPr lang="en-US" sz="1050" dirty="0" smtClean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r>
              <a:rPr lang="en-US" sz="105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archive.ics.uci.edu/dataset/320/</a:t>
            </a:r>
            <a:r>
              <a:rPr lang="en-US" sz="1050" dirty="0" err="1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student+performane</a:t>
            </a:r>
            <a:endParaRPr lang="en-US" sz="1050" dirty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33672" y="1292352"/>
            <a:ext cx="3456432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1317858"/>
            <a:ext cx="50292" cy="1060704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1362456"/>
            <a:ext cx="3236976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60" b="1">
                <a:solidFill>
                  <a:srgbClr val="102D4B"/>
                </a:solidFill>
                <a:latin typeface="Arial"/>
              </a:rPr>
              <a:t>2. UCI STUDENT PERFORMANCE —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655063"/>
            <a:ext cx="322783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Primary research/data reference. UCI documents 649 students and 30 features from two Portuguese schools. AURA uses the student/academic fields needed for support prioritization; G3 is treated as the outcome, not a live input.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17520"/>
            <a:ext cx="108813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DATA FIELDS USED IN AURA  •  WHAT THEY ARE FOR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3273552"/>
            <a:ext cx="2706624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" y="3273552"/>
            <a:ext cx="50292" cy="978408"/>
          </a:xfrm>
          <a:prstGeom prst="rect">
            <a:avLst/>
          </a:prstGeom>
          <a:solidFill>
            <a:srgbClr val="199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3374136"/>
            <a:ext cx="24871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70" b="1">
                <a:solidFill>
                  <a:srgbClr val="102D4B"/>
                </a:solidFill>
                <a:latin typeface="Arial"/>
              </a:rPr>
              <a:t>ACADEMIC SIGNALS  →  PRIORITIZATION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3666744"/>
            <a:ext cx="2478024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G1 + G2 track current performance and trajectory; failures add prior academic-risk context. Used to estimate support need and rank students.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9272" y="3273552"/>
            <a:ext cx="2706624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19272" y="3273552"/>
            <a:ext cx="50292" cy="978408"/>
          </a:xfrm>
          <a:prstGeom prst="rect">
            <a:avLst/>
          </a:prstGeom>
          <a:solidFill>
            <a:srgbClr val="1E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65576" y="3374136"/>
            <a:ext cx="24871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70" b="1">
                <a:solidFill>
                  <a:srgbClr val="102D4B"/>
                </a:solidFill>
                <a:latin typeface="Arial"/>
              </a:rPr>
              <a:t>CONTEXT SIGNALS  →  FAIRNESS &amp;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5576" y="3666744"/>
            <a:ext cx="2478024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School, sex and age identify cohorts for fairness audits and make a decision explainable without changing the allocation rule.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3273552"/>
            <a:ext cx="2706624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8776" y="3273552"/>
            <a:ext cx="50292" cy="978408"/>
          </a:xfrm>
          <a:prstGeom prst="rect">
            <a:avLst/>
          </a:prstGeom>
          <a:solidFill>
            <a:srgbClr val="645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374136"/>
            <a:ext cx="24871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70" b="1">
                <a:solidFill>
                  <a:srgbClr val="102D4B"/>
                </a:solidFill>
                <a:latin typeface="Arial"/>
              </a:rPr>
              <a:t>BEHAVIOUR / ACCESS  →  SUPPORT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666744"/>
            <a:ext cx="2478024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Absences, study time and travel time describe practical barriers. Used to tailor the type of affirmative intervention, not to label students publicly.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3273552"/>
            <a:ext cx="2706624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98280" y="3273552"/>
            <a:ext cx="50292" cy="978408"/>
          </a:xfrm>
          <a:prstGeom prst="rect">
            <a:avLst/>
          </a:prstGeom>
          <a:solidFill>
            <a:srgbClr val="DC9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44584" y="3374136"/>
            <a:ext cx="24871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770" b="1">
                <a:solidFill>
                  <a:srgbClr val="102D4B"/>
                </a:solidFill>
                <a:latin typeface="Arial"/>
              </a:rPr>
              <a:t>G3  →  OUTCOME / EVALUATION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3666744"/>
            <a:ext cx="2478024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Arial"/>
              </a:rPr>
              <a:t>Final grade (G3) is the prediction/evaluation target. It is withheld from blind evaluation inputs so the model is judged without target leakage.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447032"/>
            <a:ext cx="12344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102D4B"/>
                </a:solidFill>
                <a:latin typeface="Arial"/>
              </a:rPr>
              <a:t>REFERENCE 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695952"/>
            <a:ext cx="1097280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00" b="0">
                <a:solidFill>
                  <a:srgbClr val="5F6976"/>
                </a:solidFill>
                <a:latin typeface="Arial"/>
              </a:rPr>
              <a:t>UCI describes G1 and G2 as 1st/2nd-period grades and G3 as the final grade; its feature list also includes school, sex, age, studytime, failures and absences. AURA’s prototype turns these fields into a transparent support-prioritization workflow, while its blind evaluator strips G3 before scoring.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31168" y="6437376"/>
            <a:ext cx="25603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800" b="0">
                <a:solidFill>
                  <a:srgbClr val="5F6976"/>
                </a:solidFill>
                <a:latin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xmlns="" val="191911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1388</Words>
  <Application>Microsoft Office PowerPoint</Application>
  <PresentationFormat>Custom</PresentationFormat>
  <Paragraphs>179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CLASH OF CODERS 3.0 HACKATHON 2026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CLASH OF CODERS 3.0 HACKATHON 2026</dc:title>
  <dc:creator>jay kumar jajoo</dc:creator>
  <cp:lastModifiedBy>Krishan Kumar</cp:lastModifiedBy>
  <cp:revision>14</cp:revision>
  <dcterms:created xsi:type="dcterms:W3CDTF">2026-09-11T12:00:45Z</dcterms:created>
  <dcterms:modified xsi:type="dcterms:W3CDTF">2026-09-12T13:09:22Z</dcterms:modified>
</cp:coreProperties>
</file>